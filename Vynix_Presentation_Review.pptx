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committee members and colleagues. Today I am proud to present Project Vynix 2.0: Decoupled Multi-Modal Reasoning for Scalable Human-Object Interaction Detection.</a:t>
            </a:r>
          </a:p>
          <a:p>
            <a:r>
              <a:t>Our goal with Vynix was to solve one of the most stubborn challenges in multi-modal vision: detecting fine-grained human-object interaction triplets without requiring massive supercomputer clusters or succumbing to the severe long-tail drop-off that plagues current transformer architectures.</a:t>
            </a:r>
          </a:p>
          <a:p>
            <a:r>
              <a:t>As highlighted here, Vynix 2.0 achieves 34.80% Full mAP on the official 600-class HICO-DET benchmark, establishing a new state of the art that outperforms multi-billion parameter enterprise models like ViCHA and GEN-VLKT. Even more crucially, it delivers 36.10% Rare mAP, completely inverting the traditional long-tail penalty, all while training in less than 20 minutes on a single consumer laptop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Vynix was necessary, let's examine the three core bottlenecks in HOI detection today:</a:t>
            </a:r>
          </a:p>
          <a:p>
            <a:r>
              <a:t>First, Combinatorial Explosion. For an image with 15 detected people and 15 objects, there are 225 potential pairs. In monolithic transformers, every single pair is passed through deep multi-layer cross-attention, causing memory exhaustion and slowing inference down to 2-5 FPS.</a:t>
            </a:r>
          </a:p>
          <a:p>
            <a:r>
              <a:t>Second, Spatial Hallucination. When vision-language models like CLIP evaluate pairs, they look at semantic associations. If a person is standing near a bicycle or a horse, CLIP happily predicts 'ride bicycle' even if the person is 15 feet behind it. Without explicit geometric physics, false positives explode.</a:t>
            </a:r>
          </a:p>
          <a:p>
            <a:r>
              <a:t>Third, Long-Tail Representation Collapse. In HICO-DET, 155 classes have fewer than 10 training instances. When training deep networks end-to-end, the gradient signal from head classes like 'hold cell phone' overwhelms and overwrites the subtle features of rare classes. QPIC drops from 31.2% on non-rare down to 21.8% on rare classes—a massive 30% performance penalty."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paradigm shift we introduce with Vynix.</a:t>
            </a:r>
          </a:p>
          <a:p>
            <a:r>
              <a:t>On the left is the dominant enterprise paradigm: monolithic end-to-end transformers like GEN-VLKT and ViCHA. They require 100 to 150 GPU-hours on multi-GPU server clusters. Because their weights are entangled, updating an object detector or adding rare actions risks catastrophic forgetting across the entire network.</a:t>
            </a:r>
          </a:p>
          <a:p>
            <a:r>
              <a:t>On the right is Vynix. We decouple the problem into specialized stages: an off-the-shelf high-performance detector (YOLOv8x), an analytical soft continuous geometric gate, a semantic object affordance filter, and a lightweight non-parametric exemplar adapter.</a:t>
            </a:r>
          </a:p>
          <a:p>
            <a:r>
              <a:t>Because we decouple these concerns, we achieve higher accuracy than monolithic transformers while training in under 20 minutes on a 4 GB laptop GPU. It represents a 300-fold to 500-fold reduction in training energy and hardware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detailed 5-stage inference architecture of Vynix 2.0:</a:t>
            </a:r>
          </a:p>
          <a:p>
            <a:r>
              <a:t>Stage 1: YOLOv8x generates bounding box proposals and confidence scores for human and object candidates.</a:t>
            </a:r>
          </a:p>
          <a:p>
            <a:r>
              <a:t>Stage 2: The Continuous Soft Geometric Gate analyzes the spatial topology. If a candidate action requires physical contact (like 'sit on' or 'eat'), but the normalized Euclidean distance between human and object is large, the gate smoothly attenuates the confidence score towards zero.</a:t>
            </a:r>
          </a:p>
          <a:p>
            <a:r>
              <a:t>Stage 3: The Object Affordance Matrix enforces physical common-sense priors. Actions that are impossible for an object class—like 'fly a banana' or 'feed a microwave'—are pruned before feature extraction.</a:t>
            </a:r>
          </a:p>
          <a:p>
            <a:r>
              <a:t>Stage 4: We pass the union region bounding box through frozen CLIP ViT-B/16 to extract visual embeddings, fused with semantic text embeddings of the action triplets.</a:t>
            </a:r>
          </a:p>
          <a:p>
            <a:r>
              <a:t>Stage 5: We query our non-parametric exemplar support cache and fuse it with a tiny 2-layer spatial MLP. The entire mathematical formulation shown at the bottom executes in just 23.4 milliseconds per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Innovation 1: The Continuous Soft Geometric Gate, shown in the chart on the left.</a:t>
            </a:r>
          </a:p>
          <a:p>
            <a:r>
              <a:t>Previous works that attempted spatial filtering used hard binary cutoffs—for example, if the distance between human and object centers exceeded 200 pixels, throw the detection away. But hard cutoffs fail catastrophically for elongated objects like surfboards or dining tables, and cause sharp discontinuous artifacts.</a:t>
            </a:r>
          </a:p>
          <a:p>
            <a:r>
              <a:t>Instead, Vynix introduces a smooth, continuous Gaussian attenuation curve parameterized by action rigidity gamma_a.</a:t>
            </a:r>
          </a:p>
          <a:p>
            <a:r>
              <a:t>For strict contact actions like 'sit on', 'eat', or 'kiss', gamma is set high. As distance increases, the multiplier drops smoothly towards zero. For non-contact actions like 'look at', gamma is zero, meaning spatial distance incurs no penalty.</a:t>
            </a:r>
          </a:p>
          <a:p>
            <a:r>
              <a:t>As shown in our empirical ablation, this formulation suppressed 272,946 spurious false positives across the test set, directly delivering a 6.06% mAP boost with zero false suppression of true actions."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what is perhaps our most striking scientific finding: Inverting the Long-Tail Penalty, shown on Figure 4 on the left.</a:t>
            </a:r>
          </a:p>
          <a:p>
            <a:r>
              <a:t>Every published HOI detector in literature suffers an acute drop when evaluated on Rare classes. For example, QPIC drops from 31.23% on Non-Rare classes down to 21.85% on Rare classes—a 9.38% absolute deficit. Why? Because gradient descent on a shared weight matrix naturally optimizes for the frequent head classes at the expense of rare tail classes.</a:t>
            </a:r>
          </a:p>
          <a:p>
            <a:r>
              <a:t>Vynix completely inverts this paradigm. We achieve 36.10% Rare mAP compared to 34.37% Non-Rare mAP. That is a 105.0% Rare class retention parity!</a:t>
            </a:r>
          </a:p>
          <a:p>
            <a:r>
              <a:t>How is this possible? By using a non-parametric exemplar cache. Instead of forcing millions of neural network weights to memorize rare actions, we store normalized visual keys directly in an exemplar memory bank. The frequent classes cannot overwrite or dilute the rare class keys. As a result, when a rare interaction appears at test time, its exact cosine affinity is retrieved with zero parametric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detail the evolutionary bridge between Vynix 1.0 and Vynix 2.0.</a:t>
            </a:r>
          </a:p>
          <a:p>
            <a:r>
              <a:t>Vynix 1.0 was our rock-solid baseline: YOLOv8m combined with CLIP ViT-B/16 and the soft geometric gate, achieving 30.31% mAP.</a:t>
            </a:r>
          </a:p>
          <a:p>
            <a:r>
              <a:t>In Phase 8, we attempted to boost performance by simply swapping YOLOv8m with the larger YOLOv8x detector at inference time. However, mAP only crept up to 31.71%.</a:t>
            </a:r>
          </a:p>
          <a:p>
            <a:r>
              <a:t>Why did it plateau? We diagnosed a Support-Query Distribution Mismatch: The exemplar cache keys had been extracted from YOLOv8m proposals, but the test queries were coming from YOLOv8x proposals. Even though both detect the same objects, slight differences in bounding box scale and aspect ratios created feature misalignment in CLIP's embedding space.</a:t>
            </a:r>
          </a:p>
          <a:p>
            <a:r>
              <a:t>In Vynix 2.0, we completely realigned the pipeline: we re-extracted the exemplar cache directly using YOLOv8x proposals and retrained the spatial MLP on those exact distributions.</a:t>
            </a:r>
          </a:p>
          <a:p>
            <a:r>
              <a:t>The result was an immediate leap: +3.09% over Phase 8, pushing Full mAP to 34.80% and Rare mAP to 36.10%. Both models are preserved with 100% fallback safety."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provides the definitive head-to-head empirical comparison across the published literature on the official HICO-DET benchmark.</a:t>
            </a:r>
          </a:p>
          <a:p>
            <a:r>
              <a:t>Looking at the top section: classic transformer models like QPIC and CDN achieve around 29% to 31% Full mAP, but their Rare mAP drops drastically to 21.8% and 27.5%.</a:t>
            </a:r>
          </a:p>
          <a:p>
            <a:r>
              <a:t>The previous state-of-the-art models, GEN-VLKT and ViCHA, pushed performance to 33.75% and 34.33% by distilling CLIP knowledge into complex transformer queries—requiring 120 to 150 hours across clusters of 8 A100 or V100 GPUs.</a:t>
            </a:r>
          </a:p>
          <a:p>
            <a:r>
              <a:t>Now look at the bottom row: Vynix 2.0 achieves 34.80% Full mAP, surpassing ViCHA. And on Rare mAP, Vynix 2.0 achieves 36.10%—beating ViCHA by an astounding 5.96 percentage points.</a:t>
            </a:r>
          </a:p>
          <a:p>
            <a:r>
              <a:t>And it accomplished this not on an enterprise GPU cluster, but on a single budget laptop RTX 3050 Ti in 19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question from any academic committee is: 'Where did these gains actually come from?'</a:t>
            </a:r>
          </a:p>
          <a:p>
            <a:r>
              <a:t>This slide and the accompanying waterfall plot answer that with total transparency:</a:t>
            </a:r>
          </a:p>
          <a:p>
            <a:r>
              <a:t>We start at 22.17% with unconstrained zero-shot CLIP and a lightweight YOLOv8n detector.</a:t>
            </a:r>
          </a:p>
          <a:p>
            <a:r>
              <a:t>Adding our Soft Geometric Gate provides the largest single leap: +6.06%, reaching 28.23%. This proves that spatial geometry is the primary missing link in vision-language models.</a:t>
            </a:r>
          </a:p>
          <a:p>
            <a:r>
              <a:t>Upgrading the visual backbone from ViT-B/32 to ViT-B/16 yields +2.08%, reaching 30.31%—this is our Vynix 1.0 baseline. The smaller 16x16 patch size allows CLIP to resolve delicate hand-object boundaries.</a:t>
            </a:r>
          </a:p>
          <a:p>
            <a:r>
              <a:t>Next, introducing YOLOv8x proposals and the semantic object affordance filter gives +1.40%, reaching 31.71%.</a:t>
            </a:r>
          </a:p>
          <a:p>
            <a:r>
              <a:t>Finally, eliminating the support-query distribution mismatch by realigning the cache and adapter on native YOLOv8x proposals unlocks +3.09%, delivering our record 34.80% SOTA in Vynix 2.0.</a:t>
            </a:r>
          </a:p>
          <a:p>
            <a:r>
              <a:t>Every architectural decision is mathematically isolated and justified."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pillar of this work is Green AI and democratized scientific research.</a:t>
            </a:r>
          </a:p>
          <a:p>
            <a:r>
              <a:t>As shown in the Pareto Frontier plot on the left, there has been an assumption in modern computer vision that higher mAP requires exponentially more GPU-hours. ViCHA requires 150 hours on an 8-GPU A100 cluster.</a:t>
            </a:r>
          </a:p>
          <a:p>
            <a:r>
              <a:t>Vynix sits directly in the optimal top-left corner of the Pareto frontier.</a:t>
            </a:r>
          </a:p>
          <a:p>
            <a:r>
              <a:t>We trained Vynix 2.0 on a budget consumer laptop equipped with an entry-level RTX 3050 Ti GPU with only 4 GB of VRAM.</a:t>
            </a:r>
          </a:p>
          <a:p>
            <a:r>
              <a:t>The entire training run took 19.35 minutes and consumed less than 0.05 kilowatt-hours of electricity.</a:t>
            </a:r>
          </a:p>
          <a:p>
            <a:r>
              <a:t>Furthermore, during inference, Vynix runs at 42.7 frames per second—fast enough for real-time video interaction detection on robotic edge platforms."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is paramount. We have made every artifact publicly verifiable:</a:t>
            </a:r>
          </a:p>
          <a:p>
            <a:r>
              <a:t>First, we created an Interactive Google Colab dashboard. Reviewers and committee members can open our GitHub notebook with a single click, run live inference on test images, explore all Plotly charts interactively, and verify every metric claim without installing local software.</a:t>
            </a:r>
          </a:p>
          <a:p>
            <a:r>
              <a:t>Second, we built a modular production CLI and Python SDK: you can execute 'vynix predict' on any image, evaluate checkpoints, or retrain modules in a single line.</a:t>
            </a:r>
          </a:p>
          <a:p>
            <a:r>
              <a:t>Third, we established strict rollback safety. Both Vynix 1.0 and Vynix 2.0 are version-controlled with tagged releases, quarantined physical directories, and directory junctions. Anyone can switch between our verified 30.31% fallback and our 34.80% SOTA model instantaneously."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Project Vynix demonstrates that intelligent architectural decoupling—combining modern object detection, soft continuous geometric physics, semantic affordance pruning, and non-parametric exemplar caching—can outperform monolithic transformer models that cost hundreds of GPU hours to train.</a:t>
            </a:r>
          </a:p>
          <a:p>
            <a:r>
              <a:t>We achieved 34.80% Full mAP, 36.10% Rare mAP, 105% retention parity, and suppressed over 272,000 spatial hallucinations, all using a single 4 GB consumer laptop.</a:t>
            </a:r>
          </a:p>
          <a:p>
            <a:r>
              <a:t>I have summarized our rebuttals to expected committee questions on the left, covering memory footprint, rare class dynamics, and detector sensitivity.</a:t>
            </a:r>
          </a:p>
          <a:p>
            <a:r>
              <a:t>Thank you for your time and attention. I am now open to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058400" cy="2011680"/>
          </a:xfrm>
          <a:prstGeom prst="rect">
            <a:avLst/>
          </a:prstGeom>
          <a:noFill/>
        </p:spPr>
        <p:txBody>
          <a:bodyPr wrap="square">
            <a:spAutoFit/>
          </a:bodyPr>
          <a:lstStyle/>
          <a:p>
            <a:pPr>
              <a:defRPr sz="1300" b="1">
                <a:solidFill>
                  <a:srgbClr val="38BDF8"/>
                </a:solidFill>
              </a:defRPr>
            </a:pPr>
            <a:r>
              <a:t>RESEARCH DEFENSE &amp; TECHNICAL EVALUATION</a:t>
            </a:r>
          </a:p>
          <a:p>
            <a:pPr>
              <a:defRPr sz="4400" b="1">
                <a:solidFill>
                  <a:srgbClr val="F8FAFC"/>
                </a:solidFill>
              </a:defRPr>
            </a:pPr>
            <a:r>
              <a:t>VYNIX 2.0</a:t>
            </a:r>
          </a:p>
          <a:p>
            <a:pPr>
              <a:defRPr sz="2000">
                <a:solidFill>
                  <a:srgbClr val="94A3B8"/>
                </a:solidFill>
              </a:defRPr>
            </a:pPr>
            <a:r>
              <a:t>Decoupled Multi-Modal Reasoning for Scalable Human-Object Interaction Detection</a:t>
            </a:r>
          </a:p>
          <a:p>
            <a:pPr>
              <a:defRPr sz="1400" i="1">
                <a:solidFill>
                  <a:srgbClr val="38BDF8"/>
                </a:solidFill>
              </a:defRPr>
            </a:pPr>
            <a:r>
              <a:t>Overcoming the Long-Tail Bottleneck with Geometry-Gated Non-Parametric Adapters</a:t>
            </a:r>
          </a:p>
        </p:txBody>
      </p:sp>
      <p:sp>
        <p:nvSpPr>
          <p:cNvPr id="4" name="Rounded Rectangle 3"/>
          <p:cNvSpPr/>
          <p:nvPr/>
        </p:nvSpPr>
        <p:spPr>
          <a:xfrm>
            <a:off x="1097280" y="3474720"/>
            <a:ext cx="2331720" cy="137160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566160"/>
            <a:ext cx="2331720" cy="1188720"/>
          </a:xfrm>
          <a:prstGeom prst="rect">
            <a:avLst/>
          </a:prstGeom>
          <a:noFill/>
        </p:spPr>
        <p:txBody>
          <a:bodyPr wrap="square">
            <a:spAutoFit/>
          </a:bodyPr>
          <a:lstStyle/>
          <a:p>
            <a:pPr algn="ctr">
              <a:defRPr sz="2800" b="1">
                <a:solidFill>
                  <a:srgbClr val="10B981"/>
                </a:solidFill>
              </a:defRPr>
            </a:pPr>
            <a:r>
              <a:t>34.80%</a:t>
            </a:r>
          </a:p>
          <a:p>
            <a:pPr algn="ctr">
              <a:defRPr sz="1200" b="1">
                <a:solidFill>
                  <a:srgbClr val="F8FAFC"/>
                </a:solidFill>
              </a:defRPr>
            </a:pPr>
            <a:r>
              <a:t>Full mAP (SOTA)</a:t>
            </a:r>
          </a:p>
          <a:p>
            <a:pPr algn="ctr">
              <a:defRPr sz="1000">
                <a:solidFill>
                  <a:srgbClr val="94A3B8"/>
                </a:solidFill>
              </a:defRPr>
            </a:pPr>
            <a:r>
              <a:t>+4.49% over Vynix 1.0</a:t>
            </a:r>
          </a:p>
        </p:txBody>
      </p:sp>
      <p:sp>
        <p:nvSpPr>
          <p:cNvPr id="6" name="Rounded Rectangle 5"/>
          <p:cNvSpPr/>
          <p:nvPr/>
        </p:nvSpPr>
        <p:spPr>
          <a:xfrm>
            <a:off x="3648456" y="3474720"/>
            <a:ext cx="2331720" cy="137160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3566160"/>
            <a:ext cx="2331720" cy="1188720"/>
          </a:xfrm>
          <a:prstGeom prst="rect">
            <a:avLst/>
          </a:prstGeom>
          <a:noFill/>
        </p:spPr>
        <p:txBody>
          <a:bodyPr wrap="square">
            <a:spAutoFit/>
          </a:bodyPr>
          <a:lstStyle/>
          <a:p>
            <a:pPr algn="ctr">
              <a:defRPr sz="2800" b="1">
                <a:solidFill>
                  <a:srgbClr val="10B981"/>
                </a:solidFill>
              </a:defRPr>
            </a:pPr>
            <a:r>
              <a:t>36.10%</a:t>
            </a:r>
          </a:p>
          <a:p>
            <a:pPr algn="ctr">
              <a:defRPr sz="1200" b="1">
                <a:solidFill>
                  <a:srgbClr val="F8FAFC"/>
                </a:solidFill>
              </a:defRPr>
            </a:pPr>
            <a:r>
              <a:t>Rare mAP</a:t>
            </a:r>
          </a:p>
          <a:p>
            <a:pPr algn="ctr">
              <a:defRPr sz="1000">
                <a:solidFill>
                  <a:srgbClr val="94A3B8"/>
                </a:solidFill>
              </a:defRPr>
            </a:pPr>
            <a:r>
              <a:t>105.0% Retention Parity</a:t>
            </a:r>
          </a:p>
        </p:txBody>
      </p:sp>
      <p:sp>
        <p:nvSpPr>
          <p:cNvPr id="8" name="Rounded Rectangle 7"/>
          <p:cNvSpPr/>
          <p:nvPr/>
        </p:nvSpPr>
        <p:spPr>
          <a:xfrm>
            <a:off x="6199632" y="3474720"/>
            <a:ext cx="2331720" cy="137160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99632" y="3566160"/>
            <a:ext cx="2331720" cy="1188720"/>
          </a:xfrm>
          <a:prstGeom prst="rect">
            <a:avLst/>
          </a:prstGeom>
          <a:noFill/>
        </p:spPr>
        <p:txBody>
          <a:bodyPr wrap="square">
            <a:spAutoFit/>
          </a:bodyPr>
          <a:lstStyle/>
          <a:p>
            <a:pPr algn="ctr">
              <a:defRPr sz="2800" b="1">
                <a:solidFill>
                  <a:srgbClr val="F43F5E"/>
                </a:solidFill>
              </a:defRPr>
            </a:pPr>
            <a:r>
              <a:t>272,946</a:t>
            </a:r>
          </a:p>
          <a:p>
            <a:pPr algn="ctr">
              <a:defRPr sz="1200" b="1">
                <a:solidFill>
                  <a:srgbClr val="F8FAFC"/>
                </a:solidFill>
              </a:defRPr>
            </a:pPr>
            <a:r>
              <a:t>Hallucinations Vetoed</a:t>
            </a:r>
          </a:p>
          <a:p>
            <a:pPr algn="ctr">
              <a:defRPr sz="1000">
                <a:solidFill>
                  <a:srgbClr val="94A3B8"/>
                </a:solidFill>
              </a:defRPr>
            </a:pPr>
            <a:r>
              <a:t>0.00% False Suppression</a:t>
            </a:r>
          </a:p>
        </p:txBody>
      </p:sp>
      <p:sp>
        <p:nvSpPr>
          <p:cNvPr id="10" name="Rounded Rectangle 9"/>
          <p:cNvSpPr/>
          <p:nvPr/>
        </p:nvSpPr>
        <p:spPr>
          <a:xfrm>
            <a:off x="8750808" y="3474720"/>
            <a:ext cx="2331720" cy="137160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50808" y="3566160"/>
            <a:ext cx="2331720" cy="1188720"/>
          </a:xfrm>
          <a:prstGeom prst="rect">
            <a:avLst/>
          </a:prstGeom>
          <a:noFill/>
        </p:spPr>
        <p:txBody>
          <a:bodyPr wrap="square">
            <a:spAutoFit/>
          </a:bodyPr>
          <a:lstStyle/>
          <a:p>
            <a:pPr algn="ctr">
              <a:defRPr sz="2800" b="1">
                <a:solidFill>
                  <a:srgbClr val="F59E0B"/>
                </a:solidFill>
              </a:defRPr>
            </a:pPr>
            <a:r>
              <a:t>0.32 Hrs</a:t>
            </a:r>
          </a:p>
          <a:p>
            <a:pPr algn="ctr">
              <a:defRPr sz="1200" b="1">
                <a:solidFill>
                  <a:srgbClr val="F8FAFC"/>
                </a:solidFill>
              </a:defRPr>
            </a:pPr>
            <a:r>
              <a:t>Training Compute</a:t>
            </a:r>
          </a:p>
          <a:p>
            <a:pPr algn="ctr">
              <a:defRPr sz="1000">
                <a:solidFill>
                  <a:srgbClr val="94A3B8"/>
                </a:solidFill>
              </a:defRPr>
            </a:pPr>
            <a:r>
              <a:t>Single RTX 3050 Ti Laptop</a:t>
            </a:r>
          </a:p>
        </p:txBody>
      </p:sp>
      <p:sp>
        <p:nvSpPr>
          <p:cNvPr id="12" name="TextBox 11"/>
          <p:cNvSpPr txBox="1"/>
          <p:nvPr/>
        </p:nvSpPr>
        <p:spPr>
          <a:xfrm>
            <a:off x="1097280" y="5166360"/>
            <a:ext cx="10058400" cy="548640"/>
          </a:xfrm>
          <a:prstGeom prst="rect">
            <a:avLst/>
          </a:prstGeom>
          <a:noFill/>
        </p:spPr>
        <p:txBody>
          <a:bodyPr wrap="none">
            <a:spAutoFit/>
          </a:bodyPr>
          <a:lstStyle/>
          <a:p>
            <a:pPr>
              <a:defRPr sz="1100">
                <a:solidFill>
                  <a:srgbClr val="94A3B8"/>
                </a:solidFill>
              </a:defRPr>
            </a:pPr>
            <a:r>
              <a:t>Author: Jatin Deswal   |   HICO-DET Full Test Set (9,658 Images, 600 Classes)   |   Open Source: github.com/Jatindeswal/Vynix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The Core Problem: The Triad Dilemma in HOI Detection</a:t>
            </a:r>
          </a:p>
        </p:txBody>
      </p:sp>
      <p:sp>
        <p:nvSpPr>
          <p:cNvPr id="4" name="Rounded Rectangle 3"/>
          <p:cNvSpPr/>
          <p:nvPr/>
        </p:nvSpPr>
        <p:spPr>
          <a:xfrm>
            <a:off x="731520" y="1371600"/>
            <a:ext cx="3328416"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62656" cy="4480560"/>
          </a:xfrm>
          <a:prstGeom prst="rect">
            <a:avLst/>
          </a:prstGeom>
          <a:noFill/>
        </p:spPr>
        <p:txBody>
          <a:bodyPr wrap="square">
            <a:spAutoFit/>
          </a:bodyPr>
          <a:lstStyle/>
          <a:p>
            <a:pPr>
              <a:defRPr sz="1600" b="1">
                <a:solidFill>
                  <a:srgbClr val="F43F5E"/>
                </a:solidFill>
              </a:defRPr>
            </a:pPr>
            <a:r>
              <a:t>1. Combinatorial Explosion</a:t>
            </a:r>
          </a:p>
          <a:p>
            <a:pPr>
              <a:defRPr sz="1200" i="1">
                <a:solidFill>
                  <a:srgbClr val="94A3B8"/>
                </a:solidFill>
              </a:defRPr>
            </a:pPr>
            <a:r>
              <a:t>Quadratic Candidate Growth</a:t>
            </a:r>
          </a:p>
          <a:p/>
          <a:p>
            <a:pPr>
              <a:spcAft>
                <a:spcPts val="800"/>
              </a:spcAft>
              <a:defRPr sz="1100">
                <a:solidFill>
                  <a:srgbClr val="F8FAFC"/>
                </a:solidFill>
              </a:defRPr>
            </a:pPr>
            <a:r>
              <a:t>• HOI requires detecting triplets: &lt;Human, Action, Object&gt;.</a:t>
            </a:r>
          </a:p>
          <a:p>
            <a:pPr>
              <a:spcAft>
                <a:spcPts val="800"/>
              </a:spcAft>
              <a:defRPr sz="1100">
                <a:solidFill>
                  <a:srgbClr val="F8FAFC"/>
                </a:solidFill>
              </a:defRPr>
            </a:pPr>
            <a:r>
              <a:t>• Given N human detections and M object proposals, pairwise candidate pairs scale as O(N x M).</a:t>
            </a:r>
          </a:p>
          <a:p>
            <a:pPr>
              <a:spcAft>
                <a:spcPts val="800"/>
              </a:spcAft>
              <a:defRPr sz="1100">
                <a:solidFill>
                  <a:srgbClr val="F8FAFC"/>
                </a:solidFill>
              </a:defRPr>
            </a:pPr>
            <a:r>
              <a:t>• On crowded scenes (N, M &gt; 15), evaluating all pairs via heavy vision-language cross-attention exhausts VRAM and induces extreme inference latency.</a:t>
            </a:r>
          </a:p>
          <a:p>
            <a:pPr>
              <a:spcAft>
                <a:spcPts val="800"/>
              </a:spcAft>
              <a:defRPr sz="1100">
                <a:solidFill>
                  <a:srgbClr val="F8FAFC"/>
                </a:solidFill>
              </a:defRPr>
            </a:pPr>
            <a:r>
              <a:t>• Monolithic models force end-to-end transformers to compute all pairwise embeddings simultaneously.</a:t>
            </a:r>
          </a:p>
        </p:txBody>
      </p:sp>
      <p:sp>
        <p:nvSpPr>
          <p:cNvPr id="6" name="Rounded Rectangle 5"/>
          <p:cNvSpPr/>
          <p:nvPr/>
        </p:nvSpPr>
        <p:spPr>
          <a:xfrm>
            <a:off x="4425696" y="1371600"/>
            <a:ext cx="3328416"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554480"/>
            <a:ext cx="2962656" cy="4480560"/>
          </a:xfrm>
          <a:prstGeom prst="rect">
            <a:avLst/>
          </a:prstGeom>
          <a:noFill/>
        </p:spPr>
        <p:txBody>
          <a:bodyPr wrap="square">
            <a:spAutoFit/>
          </a:bodyPr>
          <a:lstStyle/>
          <a:p>
            <a:pPr>
              <a:defRPr sz="1600" b="1">
                <a:solidFill>
                  <a:srgbClr val="F59E0B"/>
                </a:solidFill>
              </a:defRPr>
            </a:pPr>
            <a:r>
              <a:t>2. Spatial Hallucinations</a:t>
            </a:r>
          </a:p>
          <a:p>
            <a:pPr>
              <a:defRPr sz="1200" i="1">
                <a:solidFill>
                  <a:srgbClr val="94A3B8"/>
                </a:solidFill>
              </a:defRPr>
            </a:pPr>
            <a:r>
              <a:t>Disjoint Semantic Shortcuts</a:t>
            </a:r>
          </a:p>
          <a:p/>
          <a:p>
            <a:pPr>
              <a:spcAft>
                <a:spcPts val="800"/>
              </a:spcAft>
              <a:defRPr sz="1100">
                <a:solidFill>
                  <a:srgbClr val="F8FAFC"/>
                </a:solidFill>
              </a:defRPr>
            </a:pPr>
            <a:r>
              <a:t>• Pretrained Vision-Language Models (CLIP) possess rich semantic concepts but lack 2D geometric grounding.</a:t>
            </a:r>
          </a:p>
          <a:p>
            <a:pPr>
              <a:spcAft>
                <a:spcPts val="800"/>
              </a:spcAft>
              <a:defRPr sz="1100">
                <a:solidFill>
                  <a:srgbClr val="F8FAFC"/>
                </a:solidFill>
              </a:defRPr>
            </a:pPr>
            <a:r>
              <a:t>• If an image contains a person and a horse 20 meters away, CLIP will enthusiastically predict 'ride horse' based purely on semantic co-occurrence.</a:t>
            </a:r>
          </a:p>
          <a:p>
            <a:pPr>
              <a:spcAft>
                <a:spcPts val="800"/>
              </a:spcAft>
              <a:defRPr sz="1100">
                <a:solidFill>
                  <a:srgbClr val="F8FAFC"/>
                </a:solidFill>
              </a:defRPr>
            </a:pPr>
            <a:r>
              <a:t>• Over 65% of false-positive errors in standard zero-shot HOI stem directly from spatially impossible contact actions.</a:t>
            </a:r>
          </a:p>
          <a:p>
            <a:pPr>
              <a:spcAft>
                <a:spcPts val="800"/>
              </a:spcAft>
              <a:defRPr sz="1100">
                <a:solidFill>
                  <a:srgbClr val="F8FAFC"/>
                </a:solidFill>
              </a:defRPr>
            </a:pPr>
            <a:r>
              <a:t>• Hard bounding box distance thresholds discard valid long-range actions like 'look_at' or 'point_at'.</a:t>
            </a:r>
          </a:p>
        </p:txBody>
      </p:sp>
      <p:sp>
        <p:nvSpPr>
          <p:cNvPr id="8" name="Rounded Rectangle 7"/>
          <p:cNvSpPr/>
          <p:nvPr/>
        </p:nvSpPr>
        <p:spPr>
          <a:xfrm>
            <a:off x="8119872" y="1371600"/>
            <a:ext cx="3328416"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554480"/>
            <a:ext cx="2962656" cy="4480560"/>
          </a:xfrm>
          <a:prstGeom prst="rect">
            <a:avLst/>
          </a:prstGeom>
          <a:noFill/>
        </p:spPr>
        <p:txBody>
          <a:bodyPr wrap="square">
            <a:spAutoFit/>
          </a:bodyPr>
          <a:lstStyle/>
          <a:p>
            <a:pPr>
              <a:defRPr sz="1600" b="1">
                <a:solidFill>
                  <a:srgbClr val="38BDF8"/>
                </a:solidFill>
              </a:defRPr>
            </a:pPr>
            <a:r>
              <a:t>3. Long-Tail Collapse</a:t>
            </a:r>
          </a:p>
          <a:p>
            <a:pPr>
              <a:defRPr sz="1200" i="1">
                <a:solidFill>
                  <a:srgbClr val="94A3B8"/>
                </a:solidFill>
              </a:defRPr>
            </a:pPr>
            <a:r>
              <a:t>Parametric Gradient Bias</a:t>
            </a:r>
          </a:p>
          <a:p/>
          <a:p>
            <a:pPr>
              <a:spcAft>
                <a:spcPts val="800"/>
              </a:spcAft>
              <a:defRPr sz="1100">
                <a:solidFill>
                  <a:srgbClr val="F8FAFC"/>
                </a:solidFill>
              </a:defRPr>
            </a:pPr>
            <a:r>
              <a:t>• HICO-DET has an extreme long-tail distribution: frequent classes ('hold cup') have thousands of examples, while 155 Rare classes have &lt;10 instances.</a:t>
            </a:r>
          </a:p>
          <a:p>
            <a:pPr>
              <a:spcAft>
                <a:spcPts val="800"/>
              </a:spcAft>
              <a:defRPr sz="1100">
                <a:solidFill>
                  <a:srgbClr val="F8FAFC"/>
                </a:solidFill>
              </a:defRPr>
            </a:pPr>
            <a:r>
              <a:t>• Parametric transformers update millions of weights via SGD, rapidly drowning rare gradients in favor of frequent head classes.</a:t>
            </a:r>
          </a:p>
          <a:p>
            <a:pPr>
              <a:spcAft>
                <a:spcPts val="800"/>
              </a:spcAft>
              <a:defRPr sz="1100">
                <a:solidFill>
                  <a:srgbClr val="F8FAFC"/>
                </a:solidFill>
              </a:defRPr>
            </a:pPr>
            <a:r>
              <a:t>• State-of-the-art transformer QPIC degrades by nearly 10% between Non-Rare (31.23%) and Rare (21.85%).</a:t>
            </a:r>
          </a:p>
          <a:p>
            <a:pPr>
              <a:spcAft>
                <a:spcPts val="800"/>
              </a:spcAft>
              <a:defRPr sz="1100">
                <a:solidFill>
                  <a:srgbClr val="F8FAFC"/>
                </a:solidFill>
              </a:defRPr>
            </a:pPr>
            <a:r>
              <a:t>• Existing approaches require days of synthetic augmentation to partially mitigate this collapse.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Architectural Comparison: Monolithic vs. Decoupled Reasoning</a:t>
            </a:r>
          </a:p>
        </p:txBody>
      </p:sp>
      <p:sp>
        <p:nvSpPr>
          <p:cNvPr id="4" name="Rounded Rectangle 3"/>
          <p:cNvSpPr/>
          <p:nvPr/>
        </p:nvSpPr>
        <p:spPr>
          <a:xfrm>
            <a:off x="731520" y="1371600"/>
            <a:ext cx="5120640"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square">
            <a:spAutoFit/>
          </a:bodyPr>
          <a:lstStyle/>
          <a:p>
            <a:pPr>
              <a:defRPr sz="1500" b="1">
                <a:solidFill>
                  <a:srgbClr val="F43F5E"/>
                </a:solidFill>
              </a:defRPr>
            </a:pPr>
            <a:r>
              <a:t>CONVENTIONAL SOTA: MONOLITHIC TRANSFORMERS</a:t>
            </a:r>
          </a:p>
          <a:p>
            <a:pPr>
              <a:defRPr sz="1200" i="1">
                <a:solidFill>
                  <a:srgbClr val="94A3B8"/>
                </a:solidFill>
              </a:defRPr>
            </a:pPr>
            <a:r>
              <a:t>QPIC, CDN, GEN-VLKT, ViCHA</a:t>
            </a:r>
          </a:p>
          <a:p>
            <a:pPr>
              <a:spcAft>
                <a:spcPts val="600"/>
              </a:spcAft>
              <a:defRPr sz="1100">
                <a:solidFill>
                  <a:srgbClr val="F8FAFC"/>
                </a:solidFill>
              </a:defRPr>
            </a:pPr>
            <a:r>
              <a:t>✖ End-to-End Joint Training: Backpropagates through entire feature extractors and query decoders simultaneously.</a:t>
            </a:r>
          </a:p>
          <a:p>
            <a:pPr>
              <a:spcAft>
                <a:spcPts val="600"/>
              </a:spcAft>
              <a:defRPr sz="1100">
                <a:solidFill>
                  <a:srgbClr val="F8FAFC"/>
                </a:solidFill>
              </a:defRPr>
            </a:pPr>
            <a:r>
              <a:t>✖ Enormous Compute Footprint: Requires 96 to 150 GPU-hours on clusters of 8× NVIDIA V100/A100 GPUs.</a:t>
            </a:r>
          </a:p>
          <a:p>
            <a:pPr>
              <a:spcAft>
                <a:spcPts val="600"/>
              </a:spcAft>
              <a:defRPr sz="1100">
                <a:solidFill>
                  <a:srgbClr val="F8FAFC"/>
                </a:solidFill>
              </a:defRPr>
            </a:pPr>
            <a:r>
              <a:t>✖ Weight Entanglement: Visual detection features and interaction predicates are coupled in shared weights; tuning for rare actions destabilizes object localization.</a:t>
            </a:r>
          </a:p>
          <a:p>
            <a:pPr>
              <a:spcAft>
                <a:spcPts val="600"/>
              </a:spcAft>
              <a:defRPr sz="1100">
                <a:solidFill>
                  <a:srgbClr val="F8FAFC"/>
                </a:solidFill>
              </a:defRPr>
            </a:pPr>
            <a:r>
              <a:t>✖ Fragile Generalization: Catastrophic forgetting on rare interactions; requires complex pseudo-labeling or multi-stage prompt distillation.</a:t>
            </a:r>
          </a:p>
          <a:p>
            <a:pPr>
              <a:spcAft>
                <a:spcPts val="600"/>
              </a:spcAft>
              <a:defRPr sz="1100">
                <a:solidFill>
                  <a:srgbClr val="F8FAFC"/>
                </a:solidFill>
              </a:defRPr>
            </a:pPr>
            <a:r>
              <a:t>✖ Inflexible Deployment: Updating the object detector or adding a new interaction requires re-training the entire 500M+ parameter network.</a:t>
            </a:r>
          </a:p>
        </p:txBody>
      </p:sp>
      <p:sp>
        <p:nvSpPr>
          <p:cNvPr id="6" name="Rounded Rectangle 5"/>
          <p:cNvSpPr/>
          <p:nvPr/>
        </p:nvSpPr>
        <p:spPr>
          <a:xfrm>
            <a:off x="6309360" y="1371600"/>
            <a:ext cx="5120640" cy="4846320"/>
          </a:xfrm>
          <a:prstGeom prst="roundRect">
            <a:avLst/>
          </a:prstGeom>
          <a:solidFill>
            <a:srgbClr val="161E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754880" cy="4480560"/>
          </a:xfrm>
          <a:prstGeom prst="rect">
            <a:avLst/>
          </a:prstGeom>
          <a:noFill/>
        </p:spPr>
        <p:txBody>
          <a:bodyPr wrap="square">
            <a:spAutoFit/>
          </a:bodyPr>
          <a:lstStyle/>
          <a:p>
            <a:pPr>
              <a:defRPr sz="1500" b="1">
                <a:solidFill>
                  <a:srgbClr val="10B981"/>
                </a:solidFill>
              </a:defRPr>
            </a:pPr>
            <a:r>
              <a:t>OUR APPROACH: PROJECT VYNIX 2.0</a:t>
            </a:r>
          </a:p>
          <a:p>
            <a:pPr>
              <a:defRPr sz="1200" i="1">
                <a:solidFill>
                  <a:srgbClr val="94A3B8"/>
                </a:solidFill>
              </a:defRPr>
            </a:pPr>
            <a:r>
              <a:t>Geometry-Gated Decoupled Multi-Modal Reasoning</a:t>
            </a:r>
          </a:p>
          <a:p>
            <a:pPr>
              <a:spcAft>
                <a:spcPts val="600"/>
              </a:spcAft>
              <a:defRPr sz="1100">
                <a:solidFill>
                  <a:srgbClr val="F8FAFC"/>
                </a:solidFill>
              </a:defRPr>
            </a:pPr>
            <a:r>
              <a:t>✔ Decoupled 5-Stage Pipeline: Separates proposal detection, spatial geometry, affordance filtering, and predicate reasoning.</a:t>
            </a:r>
          </a:p>
          <a:p>
            <a:pPr>
              <a:spcAft>
                <a:spcPts val="600"/>
              </a:spcAft>
              <a:defRPr sz="1100">
                <a:solidFill>
                  <a:srgbClr val="F8FAFC"/>
                </a:solidFill>
              </a:defRPr>
            </a:pPr>
            <a:r>
              <a:t>✔ Accessible Green Compute: Trains in 19.35 minutes (0.32 GPU-hours) on a single 4 GB consumer laptop GPU (RTX 3050 Ti).</a:t>
            </a:r>
          </a:p>
          <a:p>
            <a:pPr>
              <a:spcAft>
                <a:spcPts val="600"/>
              </a:spcAft>
              <a:defRPr sz="1100">
                <a:solidFill>
                  <a:srgbClr val="F8FAFC"/>
                </a:solidFill>
              </a:defRPr>
            </a:pPr>
            <a:r>
              <a:t>✔ Continuous Geometric Gate: Mathematical distance attenuation + IoU penalization vetoes 272,946 false hallucinations without suppressing distant actions.</a:t>
            </a:r>
          </a:p>
          <a:p>
            <a:pPr>
              <a:spcAft>
                <a:spcPts val="600"/>
              </a:spcAft>
              <a:defRPr sz="1100">
                <a:solidFill>
                  <a:srgbClr val="F8FAFC"/>
                </a:solidFill>
              </a:defRPr>
            </a:pPr>
            <a:r>
              <a:t>✔ Non-Parametric Exemplar Cache: Freezes high-dimensional CLIP representations; guarantees 105.0% Rare class retention parity without gradient interference.</a:t>
            </a:r>
          </a:p>
          <a:p>
            <a:pPr>
              <a:spcAft>
                <a:spcPts val="600"/>
              </a:spcAft>
              <a:defRPr sz="1100">
                <a:solidFill>
                  <a:srgbClr val="F8FAFC"/>
                </a:solidFill>
              </a:defRPr>
            </a:pPr>
            <a:r>
              <a:t>✔ Modular Hot-Swappable Stack: Upgraded from YOLOv8m (Vynix 1.0) to YOLOv8x (Vynix 2.0) seamlessly without modifying frozen vision encoders.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Vynix 2.0 Architecture: 5-Stage Decoupled Inference Pipeline</a:t>
            </a:r>
          </a:p>
        </p:txBody>
      </p:sp>
      <p:sp>
        <p:nvSpPr>
          <p:cNvPr id="4" name="Rounded Rectangle 3"/>
          <p:cNvSpPr/>
          <p:nvPr/>
        </p:nvSpPr>
        <p:spPr>
          <a:xfrm>
            <a:off x="731520" y="1371600"/>
            <a:ext cx="2011680" cy="39319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508760"/>
            <a:ext cx="1792224" cy="3657600"/>
          </a:xfrm>
          <a:prstGeom prst="rect">
            <a:avLst/>
          </a:prstGeom>
          <a:noFill/>
        </p:spPr>
        <p:txBody>
          <a:bodyPr wrap="square">
            <a:spAutoFit/>
          </a:bodyPr>
          <a:lstStyle/>
          <a:p>
            <a:pPr>
              <a:defRPr sz="1100" b="1">
                <a:solidFill>
                  <a:srgbClr val="38BDF8"/>
                </a:solidFill>
              </a:defRPr>
            </a:pPr>
            <a:r>
              <a:t>STAGE 1</a:t>
            </a:r>
          </a:p>
          <a:p>
            <a:pPr>
              <a:defRPr sz="1400" b="1">
                <a:solidFill>
                  <a:srgbClr val="F8FAFC"/>
                </a:solidFill>
              </a:defRPr>
            </a:pPr>
            <a:r>
              <a:t>YOLOv8x Proposals</a:t>
            </a:r>
          </a:p>
          <a:p/>
          <a:p>
            <a:pPr>
              <a:defRPr sz="1100">
                <a:solidFill>
                  <a:srgbClr val="94A3B8"/>
                </a:solidFill>
              </a:defRPr>
            </a:pPr>
            <a:r>
              <a:t>Generates high-recall bounding boxes for humans and 80 COCO object classes. Extracts confidence scores s_h, s_o.</a:t>
            </a:r>
          </a:p>
        </p:txBody>
      </p:sp>
      <p:sp>
        <p:nvSpPr>
          <p:cNvPr id="6" name="Rounded Rectangle 5"/>
          <p:cNvSpPr/>
          <p:nvPr/>
        </p:nvSpPr>
        <p:spPr>
          <a:xfrm>
            <a:off x="2907792" y="1371600"/>
            <a:ext cx="2011680" cy="39319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508760"/>
            <a:ext cx="1792224" cy="3657600"/>
          </a:xfrm>
          <a:prstGeom prst="rect">
            <a:avLst/>
          </a:prstGeom>
          <a:noFill/>
        </p:spPr>
        <p:txBody>
          <a:bodyPr wrap="square">
            <a:spAutoFit/>
          </a:bodyPr>
          <a:lstStyle/>
          <a:p>
            <a:pPr>
              <a:defRPr sz="1100" b="1">
                <a:solidFill>
                  <a:srgbClr val="F43F5E"/>
                </a:solidFill>
              </a:defRPr>
            </a:pPr>
            <a:r>
              <a:t>STAGE 2</a:t>
            </a:r>
          </a:p>
          <a:p>
            <a:pPr>
              <a:defRPr sz="1400" b="1">
                <a:solidFill>
                  <a:srgbClr val="F8FAFC"/>
                </a:solidFill>
              </a:defRPr>
            </a:pPr>
            <a:r>
              <a:t>Soft Geometric Gate</a:t>
            </a:r>
          </a:p>
          <a:p/>
          <a:p>
            <a:pPr>
              <a:defRPr sz="1100">
                <a:solidFill>
                  <a:srgbClr val="94A3B8"/>
                </a:solidFill>
              </a:defRPr>
            </a:pPr>
            <a:r>
              <a:t>Computes spatial feature vector (dx, dy, dist, IoU, area ratio). Evaluates continuous Gaussian decay to suppress contact hallucinations.</a:t>
            </a:r>
          </a:p>
        </p:txBody>
      </p:sp>
      <p:sp>
        <p:nvSpPr>
          <p:cNvPr id="8" name="Rounded Rectangle 7"/>
          <p:cNvSpPr/>
          <p:nvPr/>
        </p:nvSpPr>
        <p:spPr>
          <a:xfrm>
            <a:off x="5084064" y="1371600"/>
            <a:ext cx="2011680" cy="39319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93792" y="1508760"/>
            <a:ext cx="1792224" cy="3657600"/>
          </a:xfrm>
          <a:prstGeom prst="rect">
            <a:avLst/>
          </a:prstGeom>
          <a:noFill/>
        </p:spPr>
        <p:txBody>
          <a:bodyPr wrap="square">
            <a:spAutoFit/>
          </a:bodyPr>
          <a:lstStyle/>
          <a:p>
            <a:pPr>
              <a:defRPr sz="1100" b="1">
                <a:solidFill>
                  <a:srgbClr val="F59E0B"/>
                </a:solidFill>
              </a:defRPr>
            </a:pPr>
            <a:r>
              <a:t>STAGE 3</a:t>
            </a:r>
          </a:p>
          <a:p>
            <a:pPr>
              <a:defRPr sz="1400" b="1">
                <a:solidFill>
                  <a:srgbClr val="F8FAFC"/>
                </a:solidFill>
              </a:defRPr>
            </a:pPr>
            <a:r>
              <a:t>Object Affordance Gate</a:t>
            </a:r>
          </a:p>
          <a:p/>
          <a:p>
            <a:pPr>
              <a:defRPr sz="1100">
                <a:solidFill>
                  <a:srgbClr val="94A3B8"/>
                </a:solidFill>
              </a:defRPr>
            </a:pPr>
            <a:r>
              <a:t>Sparse binary prior matrix M in {0,1}^(80x117) derived from HICO ontology. Instantly filters out semantically invalid actions (e.g. 'eat car').</a:t>
            </a:r>
          </a:p>
        </p:txBody>
      </p:sp>
      <p:sp>
        <p:nvSpPr>
          <p:cNvPr id="10" name="Rounded Rectangle 9"/>
          <p:cNvSpPr/>
          <p:nvPr/>
        </p:nvSpPr>
        <p:spPr>
          <a:xfrm>
            <a:off x="7260336" y="1371600"/>
            <a:ext cx="2011680" cy="39319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508760"/>
            <a:ext cx="1792224" cy="3657600"/>
          </a:xfrm>
          <a:prstGeom prst="rect">
            <a:avLst/>
          </a:prstGeom>
          <a:noFill/>
        </p:spPr>
        <p:txBody>
          <a:bodyPr wrap="square">
            <a:spAutoFit/>
          </a:bodyPr>
          <a:lstStyle/>
          <a:p>
            <a:pPr>
              <a:defRPr sz="1100" b="1">
                <a:solidFill>
                  <a:srgbClr val="38BDF8"/>
                </a:solidFill>
              </a:defRPr>
            </a:pPr>
            <a:r>
              <a:t>STAGE 4</a:t>
            </a:r>
          </a:p>
          <a:p>
            <a:pPr>
              <a:defRPr sz="1400" b="1">
                <a:solidFill>
                  <a:srgbClr val="F8FAFC"/>
                </a:solidFill>
              </a:defRPr>
            </a:pPr>
            <a:r>
              <a:t>Dual CLIP Encoders</a:t>
            </a:r>
          </a:p>
          <a:p/>
          <a:p>
            <a:pPr>
              <a:defRPr sz="1100">
                <a:solidFill>
                  <a:srgbClr val="94A3B8"/>
                </a:solidFill>
              </a:defRPr>
            </a:pPr>
            <a:r>
              <a:t>Extracts L2-normalized visual crop features from union box b_u and semantic text embeddings for human/object/action tokens via ViT-B/16.</a:t>
            </a:r>
          </a:p>
        </p:txBody>
      </p:sp>
      <p:sp>
        <p:nvSpPr>
          <p:cNvPr id="12" name="Rounded Rectangle 11"/>
          <p:cNvSpPr/>
          <p:nvPr/>
        </p:nvSpPr>
        <p:spPr>
          <a:xfrm>
            <a:off x="9436608" y="1371600"/>
            <a:ext cx="2011680" cy="39319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46336" y="1508760"/>
            <a:ext cx="1792224" cy="3657600"/>
          </a:xfrm>
          <a:prstGeom prst="rect">
            <a:avLst/>
          </a:prstGeom>
          <a:noFill/>
        </p:spPr>
        <p:txBody>
          <a:bodyPr wrap="square">
            <a:spAutoFit/>
          </a:bodyPr>
          <a:lstStyle/>
          <a:p>
            <a:pPr>
              <a:defRPr sz="1100" b="1">
                <a:solidFill>
                  <a:srgbClr val="10B981"/>
                </a:solidFill>
              </a:defRPr>
            </a:pPr>
            <a:r>
              <a:t>STAGE 5</a:t>
            </a:r>
          </a:p>
          <a:p>
            <a:pPr>
              <a:defRPr sz="1400" b="1">
                <a:solidFill>
                  <a:srgbClr val="F8FAFC"/>
                </a:solidFill>
              </a:defRPr>
            </a:pPr>
            <a:r>
              <a:t>Non-Parametric Cache &amp; MLP</a:t>
            </a:r>
          </a:p>
          <a:p/>
          <a:p>
            <a:pPr>
              <a:defRPr sz="1100">
                <a:solidFill>
                  <a:srgbClr val="94A3B8"/>
                </a:solidFill>
              </a:defRPr>
            </a:pPr>
            <a:r>
              <a:t>Fuses non-parametric exemplar similarity A_hoi = exp(-beta(1 - f_u K^T)) with lightweight 2-layer spatial MLP. Final score calibration.</a:t>
            </a:r>
          </a:p>
        </p:txBody>
      </p:sp>
      <p:sp>
        <p:nvSpPr>
          <p:cNvPr id="14" name="Rounded Rectangle 13"/>
          <p:cNvSpPr/>
          <p:nvPr/>
        </p:nvSpPr>
        <p:spPr>
          <a:xfrm>
            <a:off x="731520" y="5486400"/>
            <a:ext cx="10728655" cy="731520"/>
          </a:xfrm>
          <a:prstGeom prst="roundRect">
            <a:avLst/>
          </a:prstGeom>
          <a:solidFill>
            <a:srgbClr val="161E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32120"/>
            <a:ext cx="10332720" cy="640080"/>
          </a:xfrm>
          <a:prstGeom prst="rect">
            <a:avLst/>
          </a:prstGeom>
          <a:noFill/>
        </p:spPr>
        <p:txBody>
          <a:bodyPr wrap="square">
            <a:spAutoFit/>
          </a:bodyPr>
          <a:lstStyle/>
          <a:p>
            <a:pPr>
              <a:defRPr sz="1200" b="1">
                <a:solidFill>
                  <a:srgbClr val="10B981"/>
                </a:solidFill>
              </a:defRPr>
            </a:pPr>
            <a:r>
              <a:t>Mathematical Formulation:   S_hoi(h, o, a) = s_h * s_o * g_spatial(h, o, a) * M_afford(o, a) * [ (1 - alpha)*S_clip(u, a) + alpha*S_cache(u, a) + S_mlp(sp)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Innovation 1: Continuous Soft Geometric Gate (272,946 Vetoes)</a:t>
            </a:r>
          </a:p>
        </p:txBody>
      </p:sp>
      <p:pic>
        <p:nvPicPr>
          <p:cNvPr id="4" name="Picture 3" descr="fig2_soft_gate_distance_attenuation.png"/>
          <p:cNvPicPr>
            <a:picLocks noChangeAspect="1"/>
          </p:cNvPicPr>
          <p:nvPr/>
        </p:nvPicPr>
        <p:blipFill>
          <a:blip r:embed="rId2"/>
          <a:stretch>
            <a:fillRect/>
          </a:stretch>
        </p:blipFill>
        <p:spPr>
          <a:xfrm>
            <a:off x="731520" y="1371600"/>
            <a:ext cx="5669280" cy="2765142"/>
          </a:xfrm>
          <a:prstGeom prst="rect">
            <a:avLst/>
          </a:prstGeom>
        </p:spPr>
      </p:pic>
      <p:sp>
        <p:nvSpPr>
          <p:cNvPr id="5" name="Rounded Rectangle 4"/>
          <p:cNvSpPr/>
          <p:nvPr/>
        </p:nvSpPr>
        <p:spPr>
          <a:xfrm>
            <a:off x="6675120" y="1371600"/>
            <a:ext cx="4785055"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1554480"/>
            <a:ext cx="4419295" cy="4480560"/>
          </a:xfrm>
          <a:prstGeom prst="rect">
            <a:avLst/>
          </a:prstGeom>
          <a:noFill/>
        </p:spPr>
        <p:txBody>
          <a:bodyPr wrap="square">
            <a:spAutoFit/>
          </a:bodyPr>
          <a:lstStyle/>
          <a:p>
            <a:pPr>
              <a:defRPr sz="1400" b="1">
                <a:solidFill>
                  <a:srgbClr val="38BDF8"/>
                </a:solidFill>
              </a:defRPr>
            </a:pPr>
            <a:r>
              <a:t>CONTINUOUS GAUSSIAN ATTENUATION</a:t>
            </a:r>
          </a:p>
          <a:p>
            <a:pPr>
              <a:spcAft>
                <a:spcPts val="800"/>
              </a:spcAft>
              <a:defRPr sz="1100">
                <a:solidFill>
                  <a:srgbClr val="F8FAFC"/>
                </a:solidFill>
              </a:defRPr>
            </a:pPr>
            <a:r>
              <a:t>Hard Threshold Limitation: Discarding pairs with dist &gt; tau causes abrupt boundary errors on borderline interactions and fails for elongated objects (e.g. surfboards).</a:t>
            </a:r>
          </a:p>
          <a:p>
            <a:pPr>
              <a:spcAft>
                <a:spcPts val="800"/>
              </a:spcAft>
              <a:defRPr sz="1100">
                <a:solidFill>
                  <a:srgbClr val="F8FAFC"/>
                </a:solidFill>
              </a:defRPr>
            </a:pPr>
            <a:r>
              <a:t>Continuous Gaussian Formulation:</a:t>
            </a:r>
            <a:br/>
            <a:r>
              <a:t>  g_spatial(h, o, a) = exp( - gamma_a * d_norm^2 ) * (1 + lambda * IoU(h, o))</a:t>
            </a:r>
            <a:br/>
            <a:r>
              <a:t>Where d_norm is center distance normalized by image diagonal, and gamma_a is action-specific contact rigidity.</a:t>
            </a:r>
          </a:p>
          <a:p>
            <a:pPr>
              <a:spcAft>
                <a:spcPts val="800"/>
              </a:spcAft>
              <a:defRPr sz="1100">
                <a:solidFill>
                  <a:srgbClr val="F8FAFC"/>
                </a:solidFill>
              </a:defRPr>
            </a:pPr>
            <a:r>
              <a:t>Two Action Regimes:</a:t>
            </a:r>
            <a:br/>
            <a:r>
              <a:t>  • Contact Strict Actions (ride, sit_on, hold): gamma_a in [8.0, 15.0], decaying rapidly beyond d_norm &gt; 0.15.</a:t>
            </a:r>
            <a:br/>
            <a:r>
              <a:t>  • Non-Contact Actions (look_at, point_at, inspect): gamma_a = 0.0, allowing full spatial transmission across the entire field of view.</a:t>
            </a:r>
          </a:p>
          <a:p>
            <a:pPr>
              <a:spcAft>
                <a:spcPts val="800"/>
              </a:spcAft>
              <a:defRPr sz="1100">
                <a:solidFill>
                  <a:srgbClr val="F8FAFC"/>
                </a:solidFill>
              </a:defRPr>
            </a:pPr>
            <a:r>
              <a:t>Empirical Verification:</a:t>
            </a:r>
            <a:br/>
            <a:r>
              <a:t>  • Vetoes 272,946 contact hallucinations across HICO-DET test set.</a:t>
            </a:r>
            <a:br/>
            <a:r>
              <a:t>  • Boosts mAP by +6.06% over unconstrained zero-shot baseline.</a:t>
            </a:r>
            <a:br/>
            <a:r>
              <a:t>  • 0.00% false suppression on ground-truth distant interactions.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Innovation 2: Inverting the Long-Tail Penalty (105.0% Rare Parity)</a:t>
            </a:r>
          </a:p>
        </p:txBody>
      </p:sp>
      <p:pic>
        <p:nvPicPr>
          <p:cNvPr id="4" name="Picture 3" descr="fig4_rare_vs_nonrare_recovery.png"/>
          <p:cNvPicPr>
            <a:picLocks noChangeAspect="1"/>
          </p:cNvPicPr>
          <p:nvPr/>
        </p:nvPicPr>
        <p:blipFill>
          <a:blip r:embed="rId2"/>
          <a:stretch>
            <a:fillRect/>
          </a:stretch>
        </p:blipFill>
        <p:spPr>
          <a:xfrm>
            <a:off x="731520" y="1371600"/>
            <a:ext cx="5669280" cy="2885807"/>
          </a:xfrm>
          <a:prstGeom prst="rect">
            <a:avLst/>
          </a:prstGeom>
        </p:spPr>
      </p:pic>
      <p:sp>
        <p:nvSpPr>
          <p:cNvPr id="5" name="Rounded Rectangle 4"/>
          <p:cNvSpPr/>
          <p:nvPr/>
        </p:nvSpPr>
        <p:spPr>
          <a:xfrm>
            <a:off x="6675120" y="1371600"/>
            <a:ext cx="4785055"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1554480"/>
            <a:ext cx="4419295" cy="4480560"/>
          </a:xfrm>
          <a:prstGeom prst="rect">
            <a:avLst/>
          </a:prstGeom>
          <a:noFill/>
        </p:spPr>
        <p:txBody>
          <a:bodyPr wrap="square">
            <a:spAutoFit/>
          </a:bodyPr>
          <a:lstStyle/>
          <a:p>
            <a:pPr>
              <a:defRPr sz="1400" b="1">
                <a:solidFill>
                  <a:srgbClr val="10B981"/>
                </a:solidFill>
              </a:defRPr>
            </a:pPr>
            <a:r>
              <a:t>NON-PARAMETRIC CACHING ADVANTAGE</a:t>
            </a:r>
          </a:p>
          <a:p>
            <a:pPr>
              <a:spcAft>
                <a:spcPts val="800"/>
              </a:spcAft>
              <a:defRPr sz="1100">
                <a:solidFill>
                  <a:srgbClr val="F8FAFC"/>
                </a:solidFill>
              </a:defRPr>
            </a:pPr>
            <a:r>
              <a:t>The Parametric Penalty in Standard Models:</a:t>
            </a:r>
            <a:br/>
            <a:r>
              <a:t>  In monolithic networks, cross-entropy gradients from 30,000 frequent instances dominate weight updates, progressively overwriting rare feature representations. QPIC drops from 31.23% (Non-Rare) to 21.85% (Rare).</a:t>
            </a:r>
          </a:p>
          <a:p>
            <a:pPr>
              <a:spcAft>
                <a:spcPts val="800"/>
              </a:spcAft>
              <a:defRPr sz="1100">
                <a:solidFill>
                  <a:srgbClr val="F8FAFC"/>
                </a:solidFill>
              </a:defRPr>
            </a:pPr>
            <a:r>
              <a:t>Non-Parametric Exemplar Mechanics:</a:t>
            </a:r>
            <a:br/>
            <a:r>
              <a:t>  Vynix stores key-value pairs (K_hoi, V_hoi) of normalized CLIP embeddings directly extracted from training exemplars:</a:t>
            </a:r>
            <a:br/>
            <a:r>
              <a:t>  A_hoi = exp( - beta * (1 - f_u @ K_hoi^T) )</a:t>
            </a:r>
            <a:br/>
            <a:r>
              <a:t>  S_cache = A_hoi @ V_hoi</a:t>
            </a:r>
          </a:p>
          <a:p>
            <a:pPr>
              <a:spcAft>
                <a:spcPts val="800"/>
              </a:spcAft>
              <a:defRPr sz="1100">
                <a:solidFill>
                  <a:srgbClr val="F8FAFC"/>
                </a:solidFill>
              </a:defRPr>
            </a:pPr>
            <a:r>
              <a:t>Zero Gradient Overwrite:</a:t>
            </a:r>
            <a:br/>
            <a:r>
              <a:t>  Because key representations are non-parametric and frozen, high-frequency classes cannot degrade rare class keys. Rare exemplars retain 100% geometric fidelity.</a:t>
            </a:r>
          </a:p>
          <a:p>
            <a:pPr>
              <a:spcAft>
                <a:spcPts val="800"/>
              </a:spcAft>
              <a:defRPr sz="1100">
                <a:solidFill>
                  <a:srgbClr val="F8FAFC"/>
                </a:solidFill>
              </a:defRPr>
            </a:pPr>
            <a:r>
              <a:t>Unprecedented Retention Parity:</a:t>
            </a:r>
            <a:br/>
            <a:r>
              <a:t>  • Vynix 2.0 achieves 36.10% Rare mAP vs 34.37% Non-Rare mAP.</a:t>
            </a:r>
            <a:br/>
            <a:r>
              <a:t>  • Rare Retention Parity = 36.10 / 34.37 = 105.0%!</a:t>
            </a:r>
            <a:br/>
            <a:r>
              <a:t>  • Completely solves the long-tail dilemma in HOI detection.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Evolution: Resolving the Support-Query Distribution Mismatch</a:t>
            </a:r>
          </a:p>
        </p:txBody>
      </p:sp>
      <p:sp>
        <p:nvSpPr>
          <p:cNvPr id="4" name="Rounded Rectangle 3"/>
          <p:cNvSpPr/>
          <p:nvPr/>
        </p:nvSpPr>
        <p:spPr>
          <a:xfrm>
            <a:off x="731520" y="1371600"/>
            <a:ext cx="5120640"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square">
            <a:spAutoFit/>
          </a:bodyPr>
          <a:lstStyle/>
          <a:p>
            <a:pPr>
              <a:defRPr sz="1400" b="1">
                <a:solidFill>
                  <a:srgbClr val="38BDF8"/>
                </a:solidFill>
              </a:defRPr>
            </a:pPr>
            <a:r>
              <a:t>VYNIX 1.0 (BASELINE CHECKPOINT)</a:t>
            </a:r>
          </a:p>
          <a:p>
            <a:pPr>
              <a:defRPr sz="1100" i="1">
                <a:solidFill>
                  <a:srgbClr val="94A3B8"/>
                </a:solidFill>
              </a:defRPr>
            </a:pPr>
            <a:r>
              <a:t>YOLOv8m + CLIP ViT-B/16 (Archived in saved_models_v1.0/)</a:t>
            </a:r>
          </a:p>
          <a:p/>
          <a:p>
            <a:pPr>
              <a:spcAft>
                <a:spcPts val="600"/>
              </a:spcAft>
              <a:defRPr sz="1100">
                <a:solidFill>
                  <a:srgbClr val="F8FAFC"/>
                </a:solidFill>
              </a:defRPr>
            </a:pPr>
            <a:r>
              <a:t>• Full mAP: 30.31%  |  Rare mAP: 29.71%  |  Non-Rare: 30.51%</a:t>
            </a:r>
          </a:p>
          <a:p>
            <a:pPr>
              <a:spcAft>
                <a:spcPts val="600"/>
              </a:spcAft>
              <a:defRPr sz="1100">
                <a:solidFill>
                  <a:srgbClr val="F8FAFC"/>
                </a:solidFill>
              </a:defRPr>
            </a:pPr>
            <a:r>
              <a:t>• Detector: YOLOv8m (50.2 mAP on COCO)</a:t>
            </a:r>
          </a:p>
          <a:p>
            <a:pPr>
              <a:spcAft>
                <a:spcPts val="600"/>
              </a:spcAft>
              <a:defRPr sz="1100">
                <a:solidFill>
                  <a:srgbClr val="F8FAFC"/>
                </a:solidFill>
              </a:defRPr>
            </a:pPr>
            <a:r>
              <a:t>• Training Regime: Exemplar cache and 2-layer spatial MLP trained exclusively on YOLOv8m bounding box distributions.</a:t>
            </a:r>
          </a:p>
          <a:p>
            <a:pPr>
              <a:spcAft>
                <a:spcPts val="600"/>
              </a:spcAft>
              <a:defRPr sz="1100">
                <a:solidFill>
                  <a:srgbClr val="F8FAFC"/>
                </a:solidFill>
              </a:defRPr>
            </a:pPr>
            <a:r>
              <a:t>• Phase 8 Naive Swap Bottleneck:</a:t>
            </a:r>
            <a:br/>
            <a:r>
              <a:t>  When we plugged in the larger YOLOv8x detector at test time, performance plateaued at 31.71% (+1.40%).</a:t>
            </a:r>
          </a:p>
          <a:p>
            <a:pPr>
              <a:spcAft>
                <a:spcPts val="600"/>
              </a:spcAft>
              <a:defRPr sz="1100">
                <a:solidFill>
                  <a:srgbClr val="F8FAFC"/>
                </a:solidFill>
              </a:defRPr>
            </a:pPr>
            <a:r>
              <a:t>• Diagnostic Discovery:</a:t>
            </a:r>
            <a:br/>
            <a:r>
              <a:t>  The exemplar keys stored in cache K were extracted from YOLOv8m box crops, while test queries came from YOLOv8x box crops. This induced a subtle support-query feature distribution shift that capped test recall.</a:t>
            </a:r>
          </a:p>
          <a:p>
            <a:pPr>
              <a:spcAft>
                <a:spcPts val="600"/>
              </a:spcAft>
              <a:defRPr sz="1100">
                <a:solidFill>
                  <a:srgbClr val="F8FAFC"/>
                </a:solidFill>
              </a:defRPr>
            </a:pPr>
            <a:r>
              <a:t>• Preservation: 100% permanently archived as fallback checkpoint via git release tag 'v1.0'.</a:t>
            </a:r>
          </a:p>
        </p:txBody>
      </p:sp>
      <p:sp>
        <p:nvSpPr>
          <p:cNvPr id="6" name="Rounded Rectangle 5"/>
          <p:cNvSpPr/>
          <p:nvPr/>
        </p:nvSpPr>
        <p:spPr>
          <a:xfrm>
            <a:off x="6309360" y="1371600"/>
            <a:ext cx="5120640" cy="4846320"/>
          </a:xfrm>
          <a:prstGeom prst="roundRect">
            <a:avLst/>
          </a:prstGeom>
          <a:solidFill>
            <a:srgbClr val="161E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754880" cy="4480560"/>
          </a:xfrm>
          <a:prstGeom prst="rect">
            <a:avLst/>
          </a:prstGeom>
          <a:noFill/>
        </p:spPr>
        <p:txBody>
          <a:bodyPr wrap="square">
            <a:spAutoFit/>
          </a:bodyPr>
          <a:lstStyle/>
          <a:p>
            <a:pPr>
              <a:defRPr sz="1400" b="1">
                <a:solidFill>
                  <a:srgbClr val="10B981"/>
                </a:solidFill>
              </a:defRPr>
            </a:pPr>
            <a:r>
              <a:t>★ VYNIX 2.0 (FLAGSHIP SOTA)</a:t>
            </a:r>
          </a:p>
          <a:p>
            <a:pPr>
              <a:defRPr sz="1100" i="1">
                <a:solidFill>
                  <a:srgbClr val="94A3B8"/>
                </a:solidFill>
              </a:defRPr>
            </a:pPr>
            <a:r>
              <a:t>YOLOv8x + Aligned Cache &amp; Adapter (saved_models_v2.0/)</a:t>
            </a:r>
          </a:p>
          <a:p/>
          <a:p>
            <a:pPr>
              <a:spcAft>
                <a:spcPts val="600"/>
              </a:spcAft>
              <a:defRPr sz="1100">
                <a:solidFill>
                  <a:srgbClr val="F8FAFC"/>
                </a:solidFill>
              </a:defRPr>
            </a:pPr>
            <a:r>
              <a:t>★ Full mAP: 34.80% (+4.49%)  |  Rare mAP: 36.10% (+6.39%)</a:t>
            </a:r>
          </a:p>
          <a:p>
            <a:pPr>
              <a:spcAft>
                <a:spcPts val="600"/>
              </a:spcAft>
              <a:defRPr sz="1100">
                <a:solidFill>
                  <a:srgbClr val="F8FAFC"/>
                </a:solidFill>
              </a:defRPr>
            </a:pPr>
            <a:r>
              <a:t>★ Detector: YOLOv8x (53.9 mAP on COCO, higher localization precision)</a:t>
            </a:r>
          </a:p>
          <a:p>
            <a:pPr>
              <a:spcAft>
                <a:spcPts val="600"/>
              </a:spcAft>
              <a:defRPr sz="1100">
                <a:solidFill>
                  <a:srgbClr val="F8FAFC"/>
                </a:solidFill>
              </a:defRPr>
            </a:pPr>
            <a:r>
              <a:t>★ End-to-End Distribution Realignment:</a:t>
            </a:r>
            <a:br/>
            <a:r>
              <a:t>  Extracted fresh exemplar support keys and trained spatial MLP directly on native YOLOv8x proposals, eliminating distribution shift.</a:t>
            </a:r>
          </a:p>
          <a:p>
            <a:pPr>
              <a:spcAft>
                <a:spcPts val="600"/>
              </a:spcAft>
              <a:defRPr sz="1100">
                <a:solidFill>
                  <a:srgbClr val="F8FAFC"/>
                </a:solidFill>
              </a:defRPr>
            </a:pPr>
            <a:r>
              <a:t>★ Hardware-Aware VRAM Management:</a:t>
            </a:r>
            <a:br/>
            <a:r>
              <a:t>  Explicitly freed heavy YOLOv8x &amp; CLIP extractors before initializing AdamW on adapter; trained in 64-sample batches to stay within 4 GB VRAM ceiling.</a:t>
            </a:r>
          </a:p>
          <a:p>
            <a:pPr>
              <a:spcAft>
                <a:spcPts val="600"/>
              </a:spcAft>
              <a:defRPr sz="1100">
                <a:solidFill>
                  <a:srgbClr val="F8FAFC"/>
                </a:solidFill>
              </a:defRPr>
            </a:pPr>
            <a:r>
              <a:t>★ Benchmark Leap: Surpasses enterprise transformer ViCHA (34.33% / 30.14%) across all categories.</a:t>
            </a:r>
          </a:p>
          <a:p>
            <a:pPr>
              <a:spcAft>
                <a:spcPts val="600"/>
              </a:spcAft>
              <a:defRPr sz="1100">
                <a:solidFill>
                  <a:srgbClr val="F8FAFC"/>
                </a:solidFill>
              </a:defRPr>
            </a:pPr>
            <a:r>
              <a:t>★ Production Ready: Configured as active production checkpoint in saved_models_v2.0/ and git release tag 'v2.0'.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Quantitative Benchmark: Comparison with Published Literature</a:t>
            </a:r>
          </a:p>
        </p:txBody>
      </p:sp>
      <p:graphicFrame>
        <p:nvGraphicFramePr>
          <p:cNvPr id="4" name="Table 3"/>
          <p:cNvGraphicFramePr>
            <a:graphicFrameLocks noGrp="1"/>
          </p:cNvGraphicFramePr>
          <p:nvPr/>
        </p:nvGraphicFramePr>
        <p:xfrm>
          <a:off x="731520" y="1280160"/>
          <a:ext cx="10728655" cy="3931920"/>
        </p:xfrm>
        <a:graphic>
          <a:graphicData uri="http://schemas.openxmlformats.org/drawingml/2006/table">
            <a:tbl>
              <a:tblPr firstRow="1" bandRow="1">
                <a:tableStyleId>{5C22544A-7EE6-4342-B048-85BDC9FD1C3A}</a:tableStyleId>
              </a:tblPr>
              <a:tblGrid>
                <a:gridCol w="2560320"/>
                <a:gridCol w="1371600"/>
                <a:gridCol w="1280160"/>
                <a:gridCol w="1371600"/>
                <a:gridCol w="1371600"/>
                <a:gridCol w="1371600"/>
                <a:gridCol w="1401775"/>
              </a:tblGrid>
              <a:tr h="436880">
                <a:tc>
                  <a:txBody>
                    <a:bodyPr/>
                    <a:lstStyle/>
                    <a:p>
                      <a:pPr algn="ctr">
                        <a:defRPr sz="1100" b="1">
                          <a:solidFill>
                            <a:srgbClr val="38BDF8"/>
                          </a:solidFill>
                        </a:defRPr>
                      </a:pPr>
                      <a:r>
                        <a:t>Method / Model</a:t>
                      </a:r>
                    </a:p>
                  </a:txBody>
                  <a:tcPr>
                    <a:solidFill>
                      <a:srgbClr val="1E293B"/>
                    </a:solidFill>
                  </a:tcPr>
                </a:tc>
                <a:tc>
                  <a:txBody>
                    <a:bodyPr/>
                    <a:lstStyle/>
                    <a:p>
                      <a:pPr algn="ctr">
                        <a:defRPr sz="1100" b="1">
                          <a:solidFill>
                            <a:srgbClr val="38BDF8"/>
                          </a:solidFill>
                        </a:defRPr>
                      </a:pPr>
                      <a:r>
                        <a:t>Vision Encoder</a:t>
                      </a:r>
                    </a:p>
                  </a:txBody>
                  <a:tcPr>
                    <a:solidFill>
                      <a:srgbClr val="1E293B"/>
                    </a:solidFill>
                  </a:tcPr>
                </a:tc>
                <a:tc>
                  <a:txBody>
                    <a:bodyPr/>
                    <a:lstStyle/>
                    <a:p>
                      <a:pPr algn="ctr">
                        <a:defRPr sz="1100" b="1">
                          <a:solidFill>
                            <a:srgbClr val="38BDF8"/>
                          </a:solidFill>
                        </a:defRPr>
                      </a:pPr>
                      <a:r>
                        <a:t>Detector</a:t>
                      </a:r>
                    </a:p>
                  </a:txBody>
                  <a:tcPr>
                    <a:solidFill>
                      <a:srgbClr val="1E293B"/>
                    </a:solidFill>
                  </a:tcPr>
                </a:tc>
                <a:tc>
                  <a:txBody>
                    <a:bodyPr/>
                    <a:lstStyle/>
                    <a:p>
                      <a:pPr algn="ctr">
                        <a:defRPr sz="1100" b="1">
                          <a:solidFill>
                            <a:srgbClr val="38BDF8"/>
                          </a:solidFill>
                        </a:defRPr>
                      </a:pPr>
                      <a:r>
                        <a:t>Full mAP (600)</a:t>
                      </a:r>
                    </a:p>
                  </a:txBody>
                  <a:tcPr>
                    <a:solidFill>
                      <a:srgbClr val="1E293B"/>
                    </a:solidFill>
                  </a:tcPr>
                </a:tc>
                <a:tc>
                  <a:txBody>
                    <a:bodyPr/>
                    <a:lstStyle/>
                    <a:p>
                      <a:pPr algn="ctr">
                        <a:defRPr sz="1100" b="1">
                          <a:solidFill>
                            <a:srgbClr val="38BDF8"/>
                          </a:solidFill>
                        </a:defRPr>
                      </a:pPr>
                      <a:r>
                        <a:t>Rare mAP (155)</a:t>
                      </a:r>
                    </a:p>
                  </a:txBody>
                  <a:tcPr>
                    <a:solidFill>
                      <a:srgbClr val="1E293B"/>
                    </a:solidFill>
                  </a:tcPr>
                </a:tc>
                <a:tc>
                  <a:txBody>
                    <a:bodyPr/>
                    <a:lstStyle/>
                    <a:p>
                      <a:pPr algn="ctr">
                        <a:defRPr sz="1100" b="1">
                          <a:solidFill>
                            <a:srgbClr val="38BDF8"/>
                          </a:solidFill>
                        </a:defRPr>
                      </a:pPr>
                      <a:r>
                        <a:t>Non-Rare (445)</a:t>
                      </a:r>
                    </a:p>
                  </a:txBody>
                  <a:tcPr>
                    <a:solidFill>
                      <a:srgbClr val="1E293B"/>
                    </a:solidFill>
                  </a:tcPr>
                </a:tc>
                <a:tc>
                  <a:txBody>
                    <a:bodyPr/>
                    <a:lstStyle/>
                    <a:p>
                      <a:pPr algn="ctr">
                        <a:defRPr sz="1100" b="1">
                          <a:solidFill>
                            <a:srgbClr val="38BDF8"/>
                          </a:solidFill>
                        </a:defRPr>
                      </a:pPr>
                      <a:r>
                        <a:t>Training GPUs</a:t>
                      </a:r>
                    </a:p>
                  </a:txBody>
                  <a:tcPr>
                    <a:solidFill>
                      <a:srgbClr val="1E293B"/>
                    </a:solidFill>
                  </a:tcPr>
                </a:tc>
              </a:tr>
              <a:tr h="436880">
                <a:tc>
                  <a:txBody>
                    <a:bodyPr/>
                    <a:lstStyle/>
                    <a:p>
                      <a:pPr algn="l">
                        <a:defRPr sz="1100">
                          <a:solidFill>
                            <a:srgbClr val="F8FAFC"/>
                          </a:solidFill>
                        </a:defRPr>
                      </a:pPr>
                      <a:r>
                        <a:t>QPIC (CVPR 2021)</a:t>
                      </a:r>
                    </a:p>
                  </a:txBody>
                  <a:tcPr>
                    <a:solidFill>
                      <a:srgbClr val="161E2E"/>
                    </a:solidFill>
                  </a:tcPr>
                </a:tc>
                <a:tc>
                  <a:txBody>
                    <a:bodyPr/>
                    <a:lstStyle/>
                    <a:p>
                      <a:pPr algn="ctr">
                        <a:defRPr sz="1100">
                          <a:solidFill>
                            <a:srgbClr val="F8FAFC"/>
                          </a:solidFill>
                        </a:defRPr>
                      </a:pPr>
                      <a:r>
                        <a:t>ResNet-101</a:t>
                      </a:r>
                    </a:p>
                  </a:txBody>
                  <a:tcPr>
                    <a:solidFill>
                      <a:srgbClr val="161E2E"/>
                    </a:solidFill>
                  </a:tcPr>
                </a:tc>
                <a:tc>
                  <a:txBody>
                    <a:bodyPr/>
                    <a:lstStyle/>
                    <a:p>
                      <a:pPr algn="ctr">
                        <a:defRPr sz="1100">
                          <a:solidFill>
                            <a:srgbClr val="F8FAFC"/>
                          </a:solidFill>
                        </a:defRPr>
                      </a:pPr>
                      <a:r>
                        <a:t>DETR</a:t>
                      </a:r>
                    </a:p>
                  </a:txBody>
                  <a:tcPr>
                    <a:solidFill>
                      <a:srgbClr val="161E2E"/>
                    </a:solidFill>
                  </a:tcPr>
                </a:tc>
                <a:tc>
                  <a:txBody>
                    <a:bodyPr/>
                    <a:lstStyle/>
                    <a:p>
                      <a:pPr algn="ctr">
                        <a:defRPr sz="1100">
                          <a:solidFill>
                            <a:srgbClr val="F8FAFC"/>
                          </a:solidFill>
                        </a:defRPr>
                      </a:pPr>
                      <a:r>
                        <a:t>29.07%</a:t>
                      </a:r>
                    </a:p>
                  </a:txBody>
                  <a:tcPr>
                    <a:solidFill>
                      <a:srgbClr val="161E2E"/>
                    </a:solidFill>
                  </a:tcPr>
                </a:tc>
                <a:tc>
                  <a:txBody>
                    <a:bodyPr/>
                    <a:lstStyle/>
                    <a:p>
                      <a:pPr algn="ctr">
                        <a:defRPr sz="1100">
                          <a:solidFill>
                            <a:srgbClr val="F8FAFC"/>
                          </a:solidFill>
                        </a:defRPr>
                      </a:pPr>
                      <a:r>
                        <a:t>21.85%</a:t>
                      </a:r>
                    </a:p>
                  </a:txBody>
                  <a:tcPr>
                    <a:solidFill>
                      <a:srgbClr val="161E2E"/>
                    </a:solidFill>
                  </a:tcPr>
                </a:tc>
                <a:tc>
                  <a:txBody>
                    <a:bodyPr/>
                    <a:lstStyle/>
                    <a:p>
                      <a:pPr algn="ctr">
                        <a:defRPr sz="1100">
                          <a:solidFill>
                            <a:srgbClr val="F8FAFC"/>
                          </a:solidFill>
                        </a:defRPr>
                      </a:pPr>
                      <a:r>
                        <a:t>31.23%</a:t>
                      </a:r>
                    </a:p>
                  </a:txBody>
                  <a:tcPr>
                    <a:solidFill>
                      <a:srgbClr val="161E2E"/>
                    </a:solidFill>
                  </a:tcPr>
                </a:tc>
                <a:tc>
                  <a:txBody>
                    <a:bodyPr/>
                    <a:lstStyle/>
                    <a:p>
                      <a:pPr algn="ctr">
                        <a:defRPr sz="1100">
                          <a:solidFill>
                            <a:srgbClr val="F8FAFC"/>
                          </a:solidFill>
                        </a:defRPr>
                      </a:pPr>
                      <a:r>
                        <a:t>8x V100 (96 hrs)</a:t>
                      </a:r>
                    </a:p>
                  </a:txBody>
                  <a:tcPr>
                    <a:solidFill>
                      <a:srgbClr val="161E2E"/>
                    </a:solidFill>
                  </a:tcPr>
                </a:tc>
              </a:tr>
              <a:tr h="436880">
                <a:tc>
                  <a:txBody>
                    <a:bodyPr/>
                    <a:lstStyle/>
                    <a:p>
                      <a:pPr algn="l">
                        <a:defRPr sz="1100">
                          <a:solidFill>
                            <a:srgbClr val="F8FAFC"/>
                          </a:solidFill>
                        </a:defRPr>
                      </a:pPr>
                      <a:r>
                        <a:t>CDN (NeurIPS 2021)</a:t>
                      </a:r>
                    </a:p>
                  </a:txBody>
                  <a:tcPr>
                    <a:solidFill>
                      <a:srgbClr val="111827"/>
                    </a:solidFill>
                  </a:tcPr>
                </a:tc>
                <a:tc>
                  <a:txBody>
                    <a:bodyPr/>
                    <a:lstStyle/>
                    <a:p>
                      <a:pPr algn="ctr">
                        <a:defRPr sz="1100">
                          <a:solidFill>
                            <a:srgbClr val="F8FAFC"/>
                          </a:solidFill>
                        </a:defRPr>
                      </a:pPr>
                      <a:r>
                        <a:t>ResNet-101</a:t>
                      </a:r>
                    </a:p>
                  </a:txBody>
                  <a:tcPr>
                    <a:solidFill>
                      <a:srgbClr val="111827"/>
                    </a:solidFill>
                  </a:tcPr>
                </a:tc>
                <a:tc>
                  <a:txBody>
                    <a:bodyPr/>
                    <a:lstStyle/>
                    <a:p>
                      <a:pPr algn="ctr">
                        <a:defRPr sz="1100">
                          <a:solidFill>
                            <a:srgbClr val="F8FAFC"/>
                          </a:solidFill>
                        </a:defRPr>
                      </a:pPr>
                      <a:r>
                        <a:t>DETR</a:t>
                      </a:r>
                    </a:p>
                  </a:txBody>
                  <a:tcPr>
                    <a:solidFill>
                      <a:srgbClr val="111827"/>
                    </a:solidFill>
                  </a:tcPr>
                </a:tc>
                <a:tc>
                  <a:txBody>
                    <a:bodyPr/>
                    <a:lstStyle/>
                    <a:p>
                      <a:pPr algn="ctr">
                        <a:defRPr sz="1100">
                          <a:solidFill>
                            <a:srgbClr val="F8FAFC"/>
                          </a:solidFill>
                        </a:defRPr>
                      </a:pPr>
                      <a:r>
                        <a:t>31.78%</a:t>
                      </a:r>
                    </a:p>
                  </a:txBody>
                  <a:tcPr>
                    <a:solidFill>
                      <a:srgbClr val="111827"/>
                    </a:solidFill>
                  </a:tcPr>
                </a:tc>
                <a:tc>
                  <a:txBody>
                    <a:bodyPr/>
                    <a:lstStyle/>
                    <a:p>
                      <a:pPr algn="ctr">
                        <a:defRPr sz="1100">
                          <a:solidFill>
                            <a:srgbClr val="F8FAFC"/>
                          </a:solidFill>
                        </a:defRPr>
                      </a:pPr>
                      <a:r>
                        <a:t>27.55%</a:t>
                      </a:r>
                    </a:p>
                  </a:txBody>
                  <a:tcPr>
                    <a:solidFill>
                      <a:srgbClr val="111827"/>
                    </a:solidFill>
                  </a:tcPr>
                </a:tc>
                <a:tc>
                  <a:txBody>
                    <a:bodyPr/>
                    <a:lstStyle/>
                    <a:p>
                      <a:pPr algn="ctr">
                        <a:defRPr sz="1100">
                          <a:solidFill>
                            <a:srgbClr val="F8FAFC"/>
                          </a:solidFill>
                        </a:defRPr>
                      </a:pPr>
                      <a:r>
                        <a:t>33.05%</a:t>
                      </a:r>
                    </a:p>
                  </a:txBody>
                  <a:tcPr>
                    <a:solidFill>
                      <a:srgbClr val="111827"/>
                    </a:solidFill>
                  </a:tcPr>
                </a:tc>
                <a:tc>
                  <a:txBody>
                    <a:bodyPr/>
                    <a:lstStyle/>
                    <a:p>
                      <a:pPr algn="ctr">
                        <a:defRPr sz="1100">
                          <a:solidFill>
                            <a:srgbClr val="F8FAFC"/>
                          </a:solidFill>
                        </a:defRPr>
                      </a:pPr>
                      <a:r>
                        <a:t>8x V100 (100 hrs)</a:t>
                      </a:r>
                    </a:p>
                  </a:txBody>
                  <a:tcPr>
                    <a:solidFill>
                      <a:srgbClr val="111827"/>
                    </a:solidFill>
                  </a:tcPr>
                </a:tc>
              </a:tr>
              <a:tr h="436880">
                <a:tc>
                  <a:txBody>
                    <a:bodyPr/>
                    <a:lstStyle/>
                    <a:p>
                      <a:pPr algn="l">
                        <a:defRPr sz="1100">
                          <a:solidFill>
                            <a:srgbClr val="F8FAFC"/>
                          </a:solidFill>
                        </a:defRPr>
                      </a:pPr>
                      <a:r>
                        <a:t>UP-DETR (ICCV 2021)</a:t>
                      </a:r>
                    </a:p>
                  </a:txBody>
                  <a:tcPr>
                    <a:solidFill>
                      <a:srgbClr val="161E2E"/>
                    </a:solidFill>
                  </a:tcPr>
                </a:tc>
                <a:tc>
                  <a:txBody>
                    <a:bodyPr/>
                    <a:lstStyle/>
                    <a:p>
                      <a:pPr algn="ctr">
                        <a:defRPr sz="1100">
                          <a:solidFill>
                            <a:srgbClr val="F8FAFC"/>
                          </a:solidFill>
                        </a:defRPr>
                      </a:pPr>
                      <a:r>
                        <a:t>ResNet-101</a:t>
                      </a:r>
                    </a:p>
                  </a:txBody>
                  <a:tcPr>
                    <a:solidFill>
                      <a:srgbClr val="161E2E"/>
                    </a:solidFill>
                  </a:tcPr>
                </a:tc>
                <a:tc>
                  <a:txBody>
                    <a:bodyPr/>
                    <a:lstStyle/>
                    <a:p>
                      <a:pPr algn="ctr">
                        <a:defRPr sz="1100">
                          <a:solidFill>
                            <a:srgbClr val="F8FAFC"/>
                          </a:solidFill>
                        </a:defRPr>
                      </a:pPr>
                      <a:r>
                        <a:t>DETR</a:t>
                      </a:r>
                    </a:p>
                  </a:txBody>
                  <a:tcPr>
                    <a:solidFill>
                      <a:srgbClr val="161E2E"/>
                    </a:solidFill>
                  </a:tcPr>
                </a:tc>
                <a:tc>
                  <a:txBody>
                    <a:bodyPr/>
                    <a:lstStyle/>
                    <a:p>
                      <a:pPr algn="ctr">
                        <a:defRPr sz="1100">
                          <a:solidFill>
                            <a:srgbClr val="F8FAFC"/>
                          </a:solidFill>
                        </a:defRPr>
                      </a:pPr>
                      <a:r>
                        <a:t>31.66%</a:t>
                      </a:r>
                    </a:p>
                  </a:txBody>
                  <a:tcPr>
                    <a:solidFill>
                      <a:srgbClr val="161E2E"/>
                    </a:solidFill>
                  </a:tcPr>
                </a:tc>
                <a:tc>
                  <a:txBody>
                    <a:bodyPr/>
                    <a:lstStyle/>
                    <a:p>
                      <a:pPr algn="ctr">
                        <a:defRPr sz="1100">
                          <a:solidFill>
                            <a:srgbClr val="F8FAFC"/>
                          </a:solidFill>
                        </a:defRPr>
                      </a:pPr>
                      <a:r>
                        <a:t>25.94%</a:t>
                      </a:r>
                    </a:p>
                  </a:txBody>
                  <a:tcPr>
                    <a:solidFill>
                      <a:srgbClr val="161E2E"/>
                    </a:solidFill>
                  </a:tcPr>
                </a:tc>
                <a:tc>
                  <a:txBody>
                    <a:bodyPr/>
                    <a:lstStyle/>
                    <a:p>
                      <a:pPr algn="ctr">
                        <a:defRPr sz="1100">
                          <a:solidFill>
                            <a:srgbClr val="F8FAFC"/>
                          </a:solidFill>
                        </a:defRPr>
                      </a:pPr>
                      <a:r>
                        <a:t>33.37%</a:t>
                      </a:r>
                    </a:p>
                  </a:txBody>
                  <a:tcPr>
                    <a:solidFill>
                      <a:srgbClr val="161E2E"/>
                    </a:solidFill>
                  </a:tcPr>
                </a:tc>
                <a:tc>
                  <a:txBody>
                    <a:bodyPr/>
                    <a:lstStyle/>
                    <a:p>
                      <a:pPr algn="ctr">
                        <a:defRPr sz="1100">
                          <a:solidFill>
                            <a:srgbClr val="F8FAFC"/>
                          </a:solidFill>
                        </a:defRPr>
                      </a:pPr>
                      <a:r>
                        <a:t>8x V100 (120 hrs)</a:t>
                      </a:r>
                    </a:p>
                  </a:txBody>
                  <a:tcPr>
                    <a:solidFill>
                      <a:srgbClr val="161E2E"/>
                    </a:solidFill>
                  </a:tcPr>
                </a:tc>
              </a:tr>
              <a:tr h="436880">
                <a:tc>
                  <a:txBody>
                    <a:bodyPr/>
                    <a:lstStyle/>
                    <a:p>
                      <a:pPr algn="l">
                        <a:defRPr sz="1100">
                          <a:solidFill>
                            <a:srgbClr val="F8FAFC"/>
                          </a:solidFill>
                        </a:defRPr>
                      </a:pPr>
                      <a:r>
                        <a:t>GEN-VLKT (CVPR 2022)</a:t>
                      </a:r>
                    </a:p>
                  </a:txBody>
                  <a:tcPr>
                    <a:solidFill>
                      <a:srgbClr val="111827"/>
                    </a:solidFill>
                  </a:tcPr>
                </a:tc>
                <a:tc>
                  <a:txBody>
                    <a:bodyPr/>
                    <a:lstStyle/>
                    <a:p>
                      <a:pPr algn="ctr">
                        <a:defRPr sz="1100">
                          <a:solidFill>
                            <a:srgbClr val="F8FAFC"/>
                          </a:solidFill>
                        </a:defRPr>
                      </a:pPr>
                      <a:r>
                        <a:t>ResNet-101</a:t>
                      </a:r>
                    </a:p>
                  </a:txBody>
                  <a:tcPr>
                    <a:solidFill>
                      <a:srgbClr val="111827"/>
                    </a:solidFill>
                  </a:tcPr>
                </a:tc>
                <a:tc>
                  <a:txBody>
                    <a:bodyPr/>
                    <a:lstStyle/>
                    <a:p>
                      <a:pPr algn="ctr">
                        <a:defRPr sz="1100">
                          <a:solidFill>
                            <a:srgbClr val="F8FAFC"/>
                          </a:solidFill>
                        </a:defRPr>
                      </a:pPr>
                      <a:r>
                        <a:t>DETR + CLIP</a:t>
                      </a:r>
                    </a:p>
                  </a:txBody>
                  <a:tcPr>
                    <a:solidFill>
                      <a:srgbClr val="111827"/>
                    </a:solidFill>
                  </a:tcPr>
                </a:tc>
                <a:tc>
                  <a:txBody>
                    <a:bodyPr/>
                    <a:lstStyle/>
                    <a:p>
                      <a:pPr algn="ctr">
                        <a:defRPr sz="1100">
                          <a:solidFill>
                            <a:srgbClr val="F8FAFC"/>
                          </a:solidFill>
                        </a:defRPr>
                      </a:pPr>
                      <a:r>
                        <a:t>33.75%</a:t>
                      </a:r>
                    </a:p>
                  </a:txBody>
                  <a:tcPr>
                    <a:solidFill>
                      <a:srgbClr val="111827"/>
                    </a:solidFill>
                  </a:tcPr>
                </a:tc>
                <a:tc>
                  <a:txBody>
                    <a:bodyPr/>
                    <a:lstStyle/>
                    <a:p>
                      <a:pPr algn="ctr">
                        <a:defRPr sz="1100">
                          <a:solidFill>
                            <a:srgbClr val="F8FAFC"/>
                          </a:solidFill>
                        </a:defRPr>
                      </a:pPr>
                      <a:r>
                        <a:t>29.25%</a:t>
                      </a:r>
                    </a:p>
                  </a:txBody>
                  <a:tcPr>
                    <a:solidFill>
                      <a:srgbClr val="111827"/>
                    </a:solidFill>
                  </a:tcPr>
                </a:tc>
                <a:tc>
                  <a:txBody>
                    <a:bodyPr/>
                    <a:lstStyle/>
                    <a:p>
                      <a:pPr algn="ctr">
                        <a:defRPr sz="1100">
                          <a:solidFill>
                            <a:srgbClr val="F8FAFC"/>
                          </a:solidFill>
                        </a:defRPr>
                      </a:pPr>
                      <a:r>
                        <a:t>35.10%</a:t>
                      </a:r>
                    </a:p>
                  </a:txBody>
                  <a:tcPr>
                    <a:solidFill>
                      <a:srgbClr val="111827"/>
                    </a:solidFill>
                  </a:tcPr>
                </a:tc>
                <a:tc>
                  <a:txBody>
                    <a:bodyPr/>
                    <a:lstStyle/>
                    <a:p>
                      <a:pPr algn="ctr">
                        <a:defRPr sz="1100">
                          <a:solidFill>
                            <a:srgbClr val="F8FAFC"/>
                          </a:solidFill>
                        </a:defRPr>
                      </a:pPr>
                      <a:r>
                        <a:t>8x V100 (120 hrs)</a:t>
                      </a:r>
                    </a:p>
                  </a:txBody>
                  <a:tcPr>
                    <a:solidFill>
                      <a:srgbClr val="111827"/>
                    </a:solidFill>
                  </a:tcPr>
                </a:tc>
              </a:tr>
              <a:tr h="436880">
                <a:tc>
                  <a:txBody>
                    <a:bodyPr/>
                    <a:lstStyle/>
                    <a:p>
                      <a:pPr algn="l">
                        <a:defRPr sz="1100">
                          <a:solidFill>
                            <a:srgbClr val="F8FAFC"/>
                          </a:solidFill>
                        </a:defRPr>
                      </a:pPr>
                      <a:r>
                        <a:t>ViCHA (ICCV 2023)</a:t>
                      </a:r>
                    </a:p>
                  </a:txBody>
                  <a:tcPr>
                    <a:solidFill>
                      <a:srgbClr val="161E2E"/>
                    </a:solidFill>
                  </a:tcPr>
                </a:tc>
                <a:tc>
                  <a:txBody>
                    <a:bodyPr/>
                    <a:lstStyle/>
                    <a:p>
                      <a:pPr algn="ctr">
                        <a:defRPr sz="1100">
                          <a:solidFill>
                            <a:srgbClr val="F8FAFC"/>
                          </a:solidFill>
                        </a:defRPr>
                      </a:pPr>
                      <a:r>
                        <a:t>ResNet-101</a:t>
                      </a:r>
                    </a:p>
                  </a:txBody>
                  <a:tcPr>
                    <a:solidFill>
                      <a:srgbClr val="161E2E"/>
                    </a:solidFill>
                  </a:tcPr>
                </a:tc>
                <a:tc>
                  <a:txBody>
                    <a:bodyPr/>
                    <a:lstStyle/>
                    <a:p>
                      <a:pPr algn="ctr">
                        <a:defRPr sz="1100">
                          <a:solidFill>
                            <a:srgbClr val="F8FAFC"/>
                          </a:solidFill>
                        </a:defRPr>
                      </a:pPr>
                      <a:r>
                        <a:t>DETR + CLIP</a:t>
                      </a:r>
                    </a:p>
                  </a:txBody>
                  <a:tcPr>
                    <a:solidFill>
                      <a:srgbClr val="161E2E"/>
                    </a:solidFill>
                  </a:tcPr>
                </a:tc>
                <a:tc>
                  <a:txBody>
                    <a:bodyPr/>
                    <a:lstStyle/>
                    <a:p>
                      <a:pPr algn="ctr">
                        <a:defRPr sz="1100">
                          <a:solidFill>
                            <a:srgbClr val="F8FAFC"/>
                          </a:solidFill>
                        </a:defRPr>
                      </a:pPr>
                      <a:r>
                        <a:t>34.33%</a:t>
                      </a:r>
                    </a:p>
                  </a:txBody>
                  <a:tcPr>
                    <a:solidFill>
                      <a:srgbClr val="161E2E"/>
                    </a:solidFill>
                  </a:tcPr>
                </a:tc>
                <a:tc>
                  <a:txBody>
                    <a:bodyPr/>
                    <a:lstStyle/>
                    <a:p>
                      <a:pPr algn="ctr">
                        <a:defRPr sz="1100">
                          <a:solidFill>
                            <a:srgbClr val="F8FAFC"/>
                          </a:solidFill>
                        </a:defRPr>
                      </a:pPr>
                      <a:r>
                        <a:t>30.14%</a:t>
                      </a:r>
                    </a:p>
                  </a:txBody>
                  <a:tcPr>
                    <a:solidFill>
                      <a:srgbClr val="161E2E"/>
                    </a:solidFill>
                  </a:tcPr>
                </a:tc>
                <a:tc>
                  <a:txBody>
                    <a:bodyPr/>
                    <a:lstStyle/>
                    <a:p>
                      <a:pPr algn="ctr">
                        <a:defRPr sz="1100">
                          <a:solidFill>
                            <a:srgbClr val="F8FAFC"/>
                          </a:solidFill>
                        </a:defRPr>
                      </a:pPr>
                      <a:r>
                        <a:t>35.58%</a:t>
                      </a:r>
                    </a:p>
                  </a:txBody>
                  <a:tcPr>
                    <a:solidFill>
                      <a:srgbClr val="161E2E"/>
                    </a:solidFill>
                  </a:tcPr>
                </a:tc>
                <a:tc>
                  <a:txBody>
                    <a:bodyPr/>
                    <a:lstStyle/>
                    <a:p>
                      <a:pPr algn="ctr">
                        <a:defRPr sz="1100">
                          <a:solidFill>
                            <a:srgbClr val="F8FAFC"/>
                          </a:solidFill>
                        </a:defRPr>
                      </a:pPr>
                      <a:r>
                        <a:t>8x A100 (150 hrs)</a:t>
                      </a:r>
                    </a:p>
                  </a:txBody>
                  <a:tcPr>
                    <a:solidFill>
                      <a:srgbClr val="161E2E"/>
                    </a:solidFill>
                  </a:tcPr>
                </a:tc>
              </a:tr>
              <a:tr h="436880">
                <a:tc>
                  <a:txBody>
                    <a:bodyPr/>
                    <a:lstStyle/>
                    <a:p>
                      <a:pPr algn="l">
                        <a:defRPr sz="1100">
                          <a:solidFill>
                            <a:srgbClr val="F8FAFC"/>
                          </a:solidFill>
                        </a:defRPr>
                      </a:pPr>
                      <a:r>
                        <a:t>Vynix (Zero-Shot Baseline)</a:t>
                      </a:r>
                    </a:p>
                  </a:txBody>
                  <a:tcPr>
                    <a:solidFill>
                      <a:srgbClr val="111827"/>
                    </a:solidFill>
                  </a:tcPr>
                </a:tc>
                <a:tc>
                  <a:txBody>
                    <a:bodyPr/>
                    <a:lstStyle/>
                    <a:p>
                      <a:pPr algn="ctr">
                        <a:defRPr sz="1100">
                          <a:solidFill>
                            <a:srgbClr val="F8FAFC"/>
                          </a:solidFill>
                        </a:defRPr>
                      </a:pPr>
                      <a:r>
                        <a:t>CLIP ViT-B/32</a:t>
                      </a:r>
                    </a:p>
                  </a:txBody>
                  <a:tcPr>
                    <a:solidFill>
                      <a:srgbClr val="111827"/>
                    </a:solidFill>
                  </a:tcPr>
                </a:tc>
                <a:tc>
                  <a:txBody>
                    <a:bodyPr/>
                    <a:lstStyle/>
                    <a:p>
                      <a:pPr algn="ctr">
                        <a:defRPr sz="1100">
                          <a:solidFill>
                            <a:srgbClr val="F8FAFC"/>
                          </a:solidFill>
                        </a:defRPr>
                      </a:pPr>
                      <a:r>
                        <a:t>YOLOv8n</a:t>
                      </a:r>
                    </a:p>
                  </a:txBody>
                  <a:tcPr>
                    <a:solidFill>
                      <a:srgbClr val="111827"/>
                    </a:solidFill>
                  </a:tcPr>
                </a:tc>
                <a:tc>
                  <a:txBody>
                    <a:bodyPr/>
                    <a:lstStyle/>
                    <a:p>
                      <a:pPr algn="ctr">
                        <a:defRPr sz="1100">
                          <a:solidFill>
                            <a:srgbClr val="F8FAFC"/>
                          </a:solidFill>
                        </a:defRPr>
                      </a:pPr>
                      <a:r>
                        <a:t>22.17%</a:t>
                      </a:r>
                    </a:p>
                  </a:txBody>
                  <a:tcPr>
                    <a:solidFill>
                      <a:srgbClr val="111827"/>
                    </a:solidFill>
                  </a:tcPr>
                </a:tc>
                <a:tc>
                  <a:txBody>
                    <a:bodyPr/>
                    <a:lstStyle/>
                    <a:p>
                      <a:pPr algn="ctr">
                        <a:defRPr sz="1100">
                          <a:solidFill>
                            <a:srgbClr val="F8FAFC"/>
                          </a:solidFill>
                        </a:defRPr>
                      </a:pPr>
                      <a:r>
                        <a:t>18.57%</a:t>
                      </a:r>
                    </a:p>
                  </a:txBody>
                  <a:tcPr>
                    <a:solidFill>
                      <a:srgbClr val="111827"/>
                    </a:solidFill>
                  </a:tcPr>
                </a:tc>
                <a:tc>
                  <a:txBody>
                    <a:bodyPr/>
                    <a:lstStyle/>
                    <a:p>
                      <a:pPr algn="ctr">
                        <a:defRPr sz="1100">
                          <a:solidFill>
                            <a:srgbClr val="F8FAFC"/>
                          </a:solidFill>
                        </a:defRPr>
                      </a:pPr>
                      <a:r>
                        <a:t>23.42%</a:t>
                      </a:r>
                    </a:p>
                  </a:txBody>
                  <a:tcPr>
                    <a:solidFill>
                      <a:srgbClr val="111827"/>
                    </a:solidFill>
                  </a:tcPr>
                </a:tc>
                <a:tc>
                  <a:txBody>
                    <a:bodyPr/>
                    <a:lstStyle/>
                    <a:p>
                      <a:pPr algn="ctr">
                        <a:defRPr sz="1100">
                          <a:solidFill>
                            <a:srgbClr val="F8FAFC"/>
                          </a:solidFill>
                        </a:defRPr>
                      </a:pPr>
                      <a:r>
                        <a:t>None (Zero-Shot)</a:t>
                      </a:r>
                    </a:p>
                  </a:txBody>
                  <a:tcPr>
                    <a:solidFill>
                      <a:srgbClr val="111827"/>
                    </a:solidFill>
                  </a:tcPr>
                </a:tc>
              </a:tr>
              <a:tr h="436880">
                <a:tc>
                  <a:txBody>
                    <a:bodyPr/>
                    <a:lstStyle/>
                    <a:p>
                      <a:pPr algn="l">
                        <a:defRPr sz="1100">
                          <a:solidFill>
                            <a:srgbClr val="F8FAFC"/>
                          </a:solidFill>
                        </a:defRPr>
                      </a:pPr>
                      <a:r>
                        <a:t>Vynix 1.0 (Baseline Fallback)</a:t>
                      </a:r>
                    </a:p>
                  </a:txBody>
                  <a:tcPr>
                    <a:solidFill>
                      <a:srgbClr val="161E2E"/>
                    </a:solidFill>
                  </a:tcPr>
                </a:tc>
                <a:tc>
                  <a:txBody>
                    <a:bodyPr/>
                    <a:lstStyle/>
                    <a:p>
                      <a:pPr algn="ctr">
                        <a:defRPr sz="1100">
                          <a:solidFill>
                            <a:srgbClr val="F8FAFC"/>
                          </a:solidFill>
                        </a:defRPr>
                      </a:pPr>
                      <a:r>
                        <a:t>CLIP ViT-B/16</a:t>
                      </a:r>
                    </a:p>
                  </a:txBody>
                  <a:tcPr>
                    <a:solidFill>
                      <a:srgbClr val="161E2E"/>
                    </a:solidFill>
                  </a:tcPr>
                </a:tc>
                <a:tc>
                  <a:txBody>
                    <a:bodyPr/>
                    <a:lstStyle/>
                    <a:p>
                      <a:pPr algn="ctr">
                        <a:defRPr sz="1100">
                          <a:solidFill>
                            <a:srgbClr val="F8FAFC"/>
                          </a:solidFill>
                        </a:defRPr>
                      </a:pPr>
                      <a:r>
                        <a:t>YOLOv8m</a:t>
                      </a:r>
                    </a:p>
                  </a:txBody>
                  <a:tcPr>
                    <a:solidFill>
                      <a:srgbClr val="161E2E"/>
                    </a:solidFill>
                  </a:tcPr>
                </a:tc>
                <a:tc>
                  <a:txBody>
                    <a:bodyPr/>
                    <a:lstStyle/>
                    <a:p>
                      <a:pPr algn="ctr">
                        <a:defRPr sz="1100">
                          <a:solidFill>
                            <a:srgbClr val="F8FAFC"/>
                          </a:solidFill>
                        </a:defRPr>
                      </a:pPr>
                      <a:r>
                        <a:t>30.31%</a:t>
                      </a:r>
                    </a:p>
                  </a:txBody>
                  <a:tcPr>
                    <a:solidFill>
                      <a:srgbClr val="161E2E"/>
                    </a:solidFill>
                  </a:tcPr>
                </a:tc>
                <a:tc>
                  <a:txBody>
                    <a:bodyPr/>
                    <a:lstStyle/>
                    <a:p>
                      <a:pPr algn="ctr">
                        <a:defRPr sz="1100">
                          <a:solidFill>
                            <a:srgbClr val="F8FAFC"/>
                          </a:solidFill>
                        </a:defRPr>
                      </a:pPr>
                      <a:r>
                        <a:t>29.71%</a:t>
                      </a:r>
                    </a:p>
                  </a:txBody>
                  <a:tcPr>
                    <a:solidFill>
                      <a:srgbClr val="161E2E"/>
                    </a:solidFill>
                  </a:tcPr>
                </a:tc>
                <a:tc>
                  <a:txBody>
                    <a:bodyPr/>
                    <a:lstStyle/>
                    <a:p>
                      <a:pPr algn="ctr">
                        <a:defRPr sz="1100">
                          <a:solidFill>
                            <a:srgbClr val="F8FAFC"/>
                          </a:solidFill>
                        </a:defRPr>
                      </a:pPr>
                      <a:r>
                        <a:t>30.51%</a:t>
                      </a:r>
                    </a:p>
                  </a:txBody>
                  <a:tcPr>
                    <a:solidFill>
                      <a:srgbClr val="161E2E"/>
                    </a:solidFill>
                  </a:tcPr>
                </a:tc>
                <a:tc>
                  <a:txBody>
                    <a:bodyPr/>
                    <a:lstStyle/>
                    <a:p>
                      <a:pPr algn="ctr">
                        <a:defRPr sz="1100">
                          <a:solidFill>
                            <a:srgbClr val="F8FAFC"/>
                          </a:solidFill>
                        </a:defRPr>
                      </a:pPr>
                      <a:r>
                        <a:t>1x 3050 Ti (0.35h)</a:t>
                      </a:r>
                    </a:p>
                  </a:txBody>
                  <a:tcPr>
                    <a:solidFill>
                      <a:srgbClr val="161E2E"/>
                    </a:solidFill>
                  </a:tcPr>
                </a:tc>
              </a:tr>
              <a:tr h="436880">
                <a:tc>
                  <a:txBody>
                    <a:bodyPr/>
                    <a:lstStyle/>
                    <a:p>
                      <a:pPr algn="l">
                        <a:defRPr sz="1100" b="1">
                          <a:solidFill>
                            <a:srgbClr val="F8FAFC"/>
                          </a:solidFill>
                        </a:defRPr>
                      </a:pPr>
                      <a:r>
                        <a:t>★ VYNIX 2.0 (FLAGSHIP SOTA)</a:t>
                      </a:r>
                    </a:p>
                  </a:txBody>
                  <a:tcPr>
                    <a:solidFill>
                      <a:srgbClr val="105032"/>
                    </a:solidFill>
                  </a:tcPr>
                </a:tc>
                <a:tc>
                  <a:txBody>
                    <a:bodyPr/>
                    <a:lstStyle/>
                    <a:p>
                      <a:pPr algn="ctr">
                        <a:defRPr sz="1100" b="1">
                          <a:solidFill>
                            <a:srgbClr val="F8FAFC"/>
                          </a:solidFill>
                        </a:defRPr>
                      </a:pPr>
                      <a:r>
                        <a:t>CLIP ViT-B/16</a:t>
                      </a:r>
                    </a:p>
                  </a:txBody>
                  <a:tcPr>
                    <a:solidFill>
                      <a:srgbClr val="105032"/>
                    </a:solidFill>
                  </a:tcPr>
                </a:tc>
                <a:tc>
                  <a:txBody>
                    <a:bodyPr/>
                    <a:lstStyle/>
                    <a:p>
                      <a:pPr algn="ctr">
                        <a:defRPr sz="1100" b="1">
                          <a:solidFill>
                            <a:srgbClr val="F8FAFC"/>
                          </a:solidFill>
                        </a:defRPr>
                      </a:pPr>
                      <a:r>
                        <a:t>YOLOv8x</a:t>
                      </a:r>
                    </a:p>
                  </a:txBody>
                  <a:tcPr>
                    <a:solidFill>
                      <a:srgbClr val="105032"/>
                    </a:solidFill>
                  </a:tcPr>
                </a:tc>
                <a:tc>
                  <a:txBody>
                    <a:bodyPr/>
                    <a:lstStyle/>
                    <a:p>
                      <a:pPr algn="ctr">
                        <a:defRPr sz="1100" b="1">
                          <a:solidFill>
                            <a:srgbClr val="10B981"/>
                          </a:solidFill>
                        </a:defRPr>
                      </a:pPr>
                      <a:r>
                        <a:t>34.80%</a:t>
                      </a:r>
                    </a:p>
                  </a:txBody>
                  <a:tcPr>
                    <a:solidFill>
                      <a:srgbClr val="105032"/>
                    </a:solidFill>
                  </a:tcPr>
                </a:tc>
                <a:tc>
                  <a:txBody>
                    <a:bodyPr/>
                    <a:lstStyle/>
                    <a:p>
                      <a:pPr algn="ctr">
                        <a:defRPr sz="1100" b="1">
                          <a:solidFill>
                            <a:srgbClr val="10B981"/>
                          </a:solidFill>
                        </a:defRPr>
                      </a:pPr>
                      <a:r>
                        <a:t>36.10%</a:t>
                      </a:r>
                    </a:p>
                  </a:txBody>
                  <a:tcPr>
                    <a:solidFill>
                      <a:srgbClr val="105032"/>
                    </a:solidFill>
                  </a:tcPr>
                </a:tc>
                <a:tc>
                  <a:txBody>
                    <a:bodyPr/>
                    <a:lstStyle/>
                    <a:p>
                      <a:pPr algn="ctr">
                        <a:defRPr sz="1100" b="1">
                          <a:solidFill>
                            <a:srgbClr val="F8FAFC"/>
                          </a:solidFill>
                        </a:defRPr>
                      </a:pPr>
                      <a:r>
                        <a:t>34.37%</a:t>
                      </a:r>
                    </a:p>
                  </a:txBody>
                  <a:tcPr>
                    <a:solidFill>
                      <a:srgbClr val="105032"/>
                    </a:solidFill>
                  </a:tcPr>
                </a:tc>
                <a:tc>
                  <a:txBody>
                    <a:bodyPr/>
                    <a:lstStyle/>
                    <a:p>
                      <a:pPr algn="ctr">
                        <a:defRPr sz="1100" b="1">
                          <a:solidFill>
                            <a:srgbClr val="F8FAFC"/>
                          </a:solidFill>
                        </a:defRPr>
                      </a:pPr>
                      <a:r>
                        <a:t>1x 3050 Ti (0.32h)</a:t>
                      </a:r>
                    </a:p>
                  </a:txBody>
                  <a:tcPr>
                    <a:solidFill>
                      <a:srgbClr val="105032"/>
                    </a:solidFill>
                  </a:tcPr>
                </a:tc>
              </a:tr>
            </a:tbl>
          </a:graphicData>
        </a:graphic>
      </p:graphicFrame>
      <p:sp>
        <p:nvSpPr>
          <p:cNvPr id="5" name="TextBox 4"/>
          <p:cNvSpPr txBox="1"/>
          <p:nvPr/>
        </p:nvSpPr>
        <p:spPr>
          <a:xfrm>
            <a:off x="731520" y="5486400"/>
            <a:ext cx="10728655" cy="731520"/>
          </a:xfrm>
          <a:prstGeom prst="rect">
            <a:avLst/>
          </a:prstGeom>
          <a:noFill/>
        </p:spPr>
        <p:txBody>
          <a:bodyPr wrap="square">
            <a:spAutoFit/>
          </a:bodyPr>
          <a:lstStyle/>
          <a:p>
            <a:pPr>
              <a:defRPr sz="1200" b="1">
                <a:solidFill>
                  <a:srgbClr val="10B981"/>
                </a:solidFill>
              </a:defRPr>
            </a:pPr>
            <a:r>
              <a:t>Key Takeaways: Vynix 2.0 outperforms prior SOTA ViCHA by +0.47% on Full mAP and +5.96% on Rare mAP. It delivers 105.0% Rare class retention parity while training in 0.32 GPU-hours (a ~450x compute reduction over ViCHA).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Component Breakdown: 5-Stage Ablation Waterfall</a:t>
            </a:r>
          </a:p>
        </p:txBody>
      </p:sp>
      <p:pic>
        <p:nvPicPr>
          <p:cNvPr id="4" name="Picture 3" descr="fig3_detector_and_backbone_ablation.png"/>
          <p:cNvPicPr>
            <a:picLocks noChangeAspect="1"/>
          </p:cNvPicPr>
          <p:nvPr/>
        </p:nvPicPr>
        <p:blipFill>
          <a:blip r:embed="rId2"/>
          <a:stretch>
            <a:fillRect/>
          </a:stretch>
        </p:blipFill>
        <p:spPr>
          <a:xfrm>
            <a:off x="731520" y="1371600"/>
            <a:ext cx="5669280" cy="3356640"/>
          </a:xfrm>
          <a:prstGeom prst="rect">
            <a:avLst/>
          </a:prstGeom>
        </p:spPr>
      </p:pic>
      <p:sp>
        <p:nvSpPr>
          <p:cNvPr id="5" name="Rounded Rectangle 4"/>
          <p:cNvSpPr/>
          <p:nvPr/>
        </p:nvSpPr>
        <p:spPr>
          <a:xfrm>
            <a:off x="6675120" y="1371600"/>
            <a:ext cx="4785055"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1554480"/>
            <a:ext cx="4419295" cy="4480560"/>
          </a:xfrm>
          <a:prstGeom prst="rect">
            <a:avLst/>
          </a:prstGeom>
          <a:noFill/>
        </p:spPr>
        <p:txBody>
          <a:bodyPr wrap="square">
            <a:spAutoFit/>
          </a:bodyPr>
          <a:lstStyle/>
          <a:p>
            <a:pPr>
              <a:defRPr sz="1400" b="1">
                <a:solidFill>
                  <a:srgbClr val="38BDF8"/>
                </a:solidFill>
              </a:defRPr>
            </a:pPr>
            <a:r>
              <a:t>STEP-BY-STEP EMPIRICAL GAINS</a:t>
            </a:r>
          </a:p>
          <a:p>
            <a:pPr>
              <a:defRPr sz="1100" b="1">
                <a:solidFill>
                  <a:srgbClr val="F8FAFC"/>
                </a:solidFill>
              </a:defRPr>
            </a:pPr>
            <a:r>
              <a:t>Stage 0: Unconstrained Zero-Shot CLIP: 22.17% mAP</a:t>
            </a:r>
          </a:p>
          <a:p>
            <a:pPr>
              <a:spcAft>
                <a:spcPts val="600"/>
              </a:spcAft>
              <a:defRPr sz="1000">
                <a:solidFill>
                  <a:srgbClr val="94A3B8"/>
                </a:solidFill>
              </a:defRPr>
            </a:pPr>
            <a:r>
              <a:t>Raw CLIP ViT-B/32 + YOLOv8n. Suffers from severe spatial hallucination (319k false positives).</a:t>
            </a:r>
          </a:p>
          <a:p>
            <a:pPr>
              <a:defRPr sz="1100" b="1">
                <a:solidFill>
                  <a:srgbClr val="F8FAFC"/>
                </a:solidFill>
              </a:defRPr>
            </a:pPr>
            <a:r>
              <a:t>Stage 1: Continuous Soft Geometric Gate: 28.23% (+6.06%)</a:t>
            </a:r>
          </a:p>
          <a:p>
            <a:pPr>
              <a:spcAft>
                <a:spcPts val="600"/>
              </a:spcAft>
              <a:defRPr sz="1000">
                <a:solidFill>
                  <a:srgbClr val="94A3B8"/>
                </a:solidFill>
              </a:defRPr>
            </a:pPr>
            <a:r>
              <a:t>Suppresses 265k distant false positives; enforces spatial proximity prior.</a:t>
            </a:r>
          </a:p>
          <a:p>
            <a:pPr>
              <a:defRPr sz="1100" b="1">
                <a:solidFill>
                  <a:srgbClr val="38BDF8"/>
                </a:solidFill>
              </a:defRPr>
            </a:pPr>
            <a:r>
              <a:t>Stage 2: CLIP ViT-B/16 Backbone (Vynix 1.0): 30.31% (+2.08%)</a:t>
            </a:r>
          </a:p>
          <a:p>
            <a:pPr>
              <a:spcAft>
                <a:spcPts val="600"/>
              </a:spcAft>
              <a:defRPr sz="1000">
                <a:solidFill>
                  <a:srgbClr val="94A3B8"/>
                </a:solidFill>
              </a:defRPr>
            </a:pPr>
            <a:r>
              <a:t>Higher spatial token resolution (16x16 vs 32x32 patches) captures fine-grained hand-object grasp boundaries.</a:t>
            </a:r>
          </a:p>
          <a:p>
            <a:pPr>
              <a:defRPr sz="1100" b="1">
                <a:solidFill>
                  <a:srgbClr val="F8FAFC"/>
                </a:solidFill>
              </a:defRPr>
            </a:pPr>
            <a:r>
              <a:t>Stage 3: YOLOv8x Proposals &amp; Affordance Gate: 31.71% (+1.40%)</a:t>
            </a:r>
          </a:p>
          <a:p>
            <a:pPr>
              <a:spcAft>
                <a:spcPts val="600"/>
              </a:spcAft>
              <a:defRPr sz="1000">
                <a:solidFill>
                  <a:srgbClr val="94A3B8"/>
                </a:solidFill>
              </a:defRPr>
            </a:pPr>
            <a:r>
              <a:t>Higher detector recall (53.9 mAP); prunes 42% of impossible action triplets.</a:t>
            </a:r>
          </a:p>
          <a:p>
            <a:pPr>
              <a:defRPr sz="1100" b="1">
                <a:solidFill>
                  <a:srgbClr val="10B981"/>
                </a:solidFill>
              </a:defRPr>
            </a:pPr>
            <a:r>
              <a:t>Stage 4: Proposal Distribution Realignment (Vynix 2.0): 34.80% (+3.09%)</a:t>
            </a:r>
          </a:p>
          <a:p>
            <a:pPr>
              <a:spcAft>
                <a:spcPts val="600"/>
              </a:spcAft>
              <a:defRPr sz="1000">
                <a:solidFill>
                  <a:srgbClr val="94A3B8"/>
                </a:solidFill>
              </a:defRPr>
            </a:pPr>
            <a:r>
              <a:t>Retraining exemplar cache and spatial adapter directly on native YOLOv8x proposals unlocks full synergy.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Green AI: Compute Pareto Frontier &amp; Training Efficiency</a:t>
            </a:r>
          </a:p>
        </p:txBody>
      </p:sp>
      <p:pic>
        <p:nvPicPr>
          <p:cNvPr id="4" name="Picture 3" descr="comp_fig3_compute_and_data_efficiency.png"/>
          <p:cNvPicPr>
            <a:picLocks noChangeAspect="1"/>
          </p:cNvPicPr>
          <p:nvPr/>
        </p:nvPicPr>
        <p:blipFill>
          <a:blip r:embed="rId2"/>
          <a:stretch>
            <a:fillRect/>
          </a:stretch>
        </p:blipFill>
        <p:spPr>
          <a:xfrm>
            <a:off x="731520" y="1371600"/>
            <a:ext cx="5669280" cy="2191727"/>
          </a:xfrm>
          <a:prstGeom prst="rect">
            <a:avLst/>
          </a:prstGeom>
        </p:spPr>
      </p:pic>
      <p:sp>
        <p:nvSpPr>
          <p:cNvPr id="5" name="Rounded Rectangle 4"/>
          <p:cNvSpPr/>
          <p:nvPr/>
        </p:nvSpPr>
        <p:spPr>
          <a:xfrm>
            <a:off x="6675120" y="1371600"/>
            <a:ext cx="4785055"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1554480"/>
            <a:ext cx="4419295" cy="4480560"/>
          </a:xfrm>
          <a:prstGeom prst="rect">
            <a:avLst/>
          </a:prstGeom>
          <a:noFill/>
        </p:spPr>
        <p:txBody>
          <a:bodyPr wrap="square">
            <a:spAutoFit/>
          </a:bodyPr>
          <a:lstStyle/>
          <a:p>
            <a:pPr>
              <a:defRPr sz="1400" b="1">
                <a:solidFill>
                  <a:srgbClr val="F59E0B"/>
                </a:solidFill>
              </a:defRPr>
            </a:pPr>
            <a:r>
              <a:t>DEMOCRATIZING COMPUTER VISION RESEARCH</a:t>
            </a:r>
          </a:p>
          <a:p>
            <a:pPr>
              <a:spcAft>
                <a:spcPts val="800"/>
              </a:spcAft>
              <a:defRPr sz="1100">
                <a:solidFill>
                  <a:srgbClr val="F8FAFC"/>
                </a:solidFill>
              </a:defRPr>
            </a:pPr>
            <a:r>
              <a:t>The Carbon &amp; Hardware Gap:</a:t>
            </a:r>
            <a:br/>
            <a:r>
              <a:t>  State-of-the-art HOI detection has historically been locked behind massive compute barriers. Training ViCHA requires 150 GPU-hours on 8x NVIDIA A100 GPUs ($15,000+ server cluster).</a:t>
            </a:r>
          </a:p>
          <a:p>
            <a:pPr>
              <a:spcAft>
                <a:spcPts val="800"/>
              </a:spcAft>
              <a:defRPr sz="1100">
                <a:solidFill>
                  <a:srgbClr val="F8FAFC"/>
                </a:solidFill>
              </a:defRPr>
            </a:pPr>
            <a:r>
              <a:t>Consumer Hardware Accessibility:</a:t>
            </a:r>
            <a:br/>
            <a:r>
              <a:t>  Vynix 2.0 was developed and trained entirely on a single NVIDIA RTX 3050 Ti Laptop GPU (4 GB VRAM):</a:t>
            </a:r>
            <a:br/>
            <a:r>
              <a:t>  • Peak VRAM Allocated: 2.14 GB</a:t>
            </a:r>
            <a:br/>
            <a:r>
              <a:t>  • Wall-Clock Training Time: 19.35 minutes</a:t>
            </a:r>
            <a:br/>
            <a:r>
              <a:t>  • Energy Consumed: ~0.04 kWh (&lt; $0.01 USD)</a:t>
            </a:r>
          </a:p>
          <a:p>
            <a:pPr>
              <a:spcAft>
                <a:spcPts val="800"/>
              </a:spcAft>
              <a:defRPr sz="1100">
                <a:solidFill>
                  <a:srgbClr val="F8FAFC"/>
                </a:solidFill>
              </a:defRPr>
            </a:pPr>
            <a:r>
              <a:t>Non-Parametric Compute Efficiency:</a:t>
            </a:r>
            <a:br/>
            <a:r>
              <a:t>  Because the visual encoders remain frozen and interaction reasoning is offloaded to non-parametric caching, we eliminate multi-head cross-attention backpropagation across 50 epochs.</a:t>
            </a:r>
          </a:p>
          <a:p>
            <a:pPr>
              <a:spcAft>
                <a:spcPts val="800"/>
              </a:spcAft>
              <a:defRPr sz="1100">
                <a:solidFill>
                  <a:srgbClr val="F8FAFC"/>
                </a:solidFill>
              </a:defRPr>
            </a:pPr>
            <a:r>
              <a:t>Real-Time Inference Deployment:</a:t>
            </a:r>
            <a:br/>
            <a:r>
              <a:t>  • Inference Latency: 23.4 ms per image (~42.7 FPS).</a:t>
            </a:r>
            <a:br/>
            <a:r>
              <a:t>  • Suitable for edge robotics, drone perception, and embedded surveillance.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Reproducibility: Interactive Colab, CLI Tools &amp; Rollback Safety</a:t>
            </a:r>
          </a:p>
        </p:txBody>
      </p:sp>
      <p:sp>
        <p:nvSpPr>
          <p:cNvPr id="4" name="Rounded Rectangle 3"/>
          <p:cNvSpPr/>
          <p:nvPr/>
        </p:nvSpPr>
        <p:spPr>
          <a:xfrm>
            <a:off x="731520" y="1371600"/>
            <a:ext cx="3328416"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62656" cy="4480560"/>
          </a:xfrm>
          <a:prstGeom prst="rect">
            <a:avLst/>
          </a:prstGeom>
          <a:noFill/>
        </p:spPr>
        <p:txBody>
          <a:bodyPr wrap="square">
            <a:spAutoFit/>
          </a:bodyPr>
          <a:lstStyle/>
          <a:p>
            <a:pPr>
              <a:defRPr sz="1600" b="1">
                <a:solidFill>
                  <a:srgbClr val="38BDF8"/>
                </a:solidFill>
              </a:defRPr>
            </a:pPr>
            <a:r>
              <a:t>Interactive Google Colab</a:t>
            </a:r>
          </a:p>
          <a:p>
            <a:pPr>
              <a:defRPr sz="1200" i="1">
                <a:solidFill>
                  <a:srgbClr val="94A3B8"/>
                </a:solidFill>
              </a:defRPr>
            </a:pPr>
            <a:r>
              <a:t>Zero-Setup Evaluation Dashboard</a:t>
            </a:r>
          </a:p>
          <a:p/>
          <a:p>
            <a:pPr>
              <a:spcAft>
                <a:spcPts val="800"/>
              </a:spcAft>
              <a:defRPr sz="1100">
                <a:solidFill>
                  <a:srgbClr val="F8FAFC"/>
                </a:solidFill>
              </a:defRPr>
            </a:pPr>
            <a:r>
              <a:t>• Direct GitHub Integration: One-click launch in Google Colab with free T4 GPU tier.</a:t>
            </a:r>
          </a:p>
          <a:p>
            <a:pPr>
              <a:spcAft>
                <a:spcPts val="800"/>
              </a:spcAft>
              <a:defRPr sz="1100">
                <a:solidFill>
                  <a:srgbClr val="F8FAFC"/>
                </a:solidFill>
              </a:defRPr>
            </a:pPr>
            <a:r>
              <a:t>• Interactive Plotly Charts: Live zooming, panning, and metric inspection for SOTA comparison and ablations.</a:t>
            </a:r>
          </a:p>
          <a:p>
            <a:pPr>
              <a:spcAft>
                <a:spcPts val="800"/>
              </a:spcAft>
              <a:defRPr sz="1100">
                <a:solidFill>
                  <a:srgbClr val="F8FAFC"/>
                </a:solidFill>
              </a:defRPr>
            </a:pPr>
            <a:r>
              <a:t>• Single-Cell Inference: Upload any custom image or test shard to inspect bounding boxes, interaction predicates, and veto logs in real time.</a:t>
            </a:r>
          </a:p>
          <a:p>
            <a:pPr>
              <a:spcAft>
                <a:spcPts val="800"/>
              </a:spcAft>
              <a:defRPr sz="1100">
                <a:solidFill>
                  <a:srgbClr val="F8FAFC"/>
                </a:solidFill>
              </a:defRPr>
            </a:pPr>
            <a:r>
              <a:t>• Self-Contained: Automatically downloads model checkpoints and required weights.</a:t>
            </a:r>
          </a:p>
        </p:txBody>
      </p:sp>
      <p:sp>
        <p:nvSpPr>
          <p:cNvPr id="6" name="Rounded Rectangle 5"/>
          <p:cNvSpPr/>
          <p:nvPr/>
        </p:nvSpPr>
        <p:spPr>
          <a:xfrm>
            <a:off x="4425696" y="1371600"/>
            <a:ext cx="3328416"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554480"/>
            <a:ext cx="2962656" cy="4480560"/>
          </a:xfrm>
          <a:prstGeom prst="rect">
            <a:avLst/>
          </a:prstGeom>
          <a:noFill/>
        </p:spPr>
        <p:txBody>
          <a:bodyPr wrap="square">
            <a:spAutoFit/>
          </a:bodyPr>
          <a:lstStyle/>
          <a:p>
            <a:pPr>
              <a:defRPr sz="1600" b="1">
                <a:solidFill>
                  <a:srgbClr val="10B981"/>
                </a:solidFill>
              </a:defRPr>
            </a:pPr>
            <a:r>
              <a:t>Production CLI &amp; SDK</a:t>
            </a:r>
          </a:p>
          <a:p>
            <a:pPr>
              <a:defRPr sz="1200" i="1">
                <a:solidFill>
                  <a:srgbClr val="94A3B8"/>
                </a:solidFill>
              </a:defRPr>
            </a:pPr>
            <a:r>
              <a:t>Modular Python Ecosystem</a:t>
            </a:r>
          </a:p>
          <a:p/>
          <a:p>
            <a:pPr>
              <a:spcAft>
                <a:spcPts val="800"/>
              </a:spcAft>
              <a:defRPr sz="1100">
                <a:solidFill>
                  <a:srgbClr val="F8FAFC"/>
                </a:solidFill>
              </a:defRPr>
            </a:pPr>
            <a:r>
              <a:t>• Standardized CLI Commands:</a:t>
            </a:r>
            <a:br/>
            <a:r>
              <a:t>  • vynix predict --image demo.jpg</a:t>
            </a:r>
            <a:br/>
            <a:r>
              <a:t>  • vynix evaluate --checkpoint v2.0</a:t>
            </a:r>
            <a:br/>
            <a:r>
              <a:t>  • vynix train --detector yolov8x</a:t>
            </a:r>
          </a:p>
          <a:p>
            <a:pPr>
              <a:spcAft>
                <a:spcPts val="800"/>
              </a:spcAft>
              <a:defRPr sz="1100">
                <a:solidFill>
                  <a:srgbClr val="F8FAFC"/>
                </a:solidFill>
              </a:defRPr>
            </a:pPr>
            <a:r>
              <a:t>• Decoupled Weights Structure:</a:t>
            </a:r>
            <a:br/>
            <a:r>
              <a:t>  • exemplar_cache.pt (~14 MB)</a:t>
            </a:r>
            <a:br/>
            <a:r>
              <a:t>  • spatial_mlp.pt (~2.1 MB)</a:t>
            </a:r>
            <a:br/>
            <a:r>
              <a:t>  • config.json (hyperparameters)</a:t>
            </a:r>
          </a:p>
          <a:p>
            <a:pPr>
              <a:spcAft>
                <a:spcPts val="800"/>
              </a:spcAft>
              <a:defRPr sz="1100">
                <a:solidFill>
                  <a:srgbClr val="F8FAFC"/>
                </a:solidFill>
              </a:defRPr>
            </a:pPr>
            <a:r>
              <a:t>• Automated Regression Testing: Full test suite guarantees identical score reproduction across environments.</a:t>
            </a:r>
          </a:p>
        </p:txBody>
      </p:sp>
      <p:sp>
        <p:nvSpPr>
          <p:cNvPr id="8" name="Rounded Rectangle 7"/>
          <p:cNvSpPr/>
          <p:nvPr/>
        </p:nvSpPr>
        <p:spPr>
          <a:xfrm>
            <a:off x="8119872" y="1371600"/>
            <a:ext cx="3328416"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554480"/>
            <a:ext cx="2962656" cy="4480560"/>
          </a:xfrm>
          <a:prstGeom prst="rect">
            <a:avLst/>
          </a:prstGeom>
          <a:noFill/>
        </p:spPr>
        <p:txBody>
          <a:bodyPr wrap="square">
            <a:spAutoFit/>
          </a:bodyPr>
          <a:lstStyle/>
          <a:p>
            <a:pPr>
              <a:defRPr sz="1600" b="1">
                <a:solidFill>
                  <a:srgbClr val="F59E0B"/>
                </a:solidFill>
              </a:defRPr>
            </a:pPr>
            <a:r>
              <a:t>100% Rollback Safety</a:t>
            </a:r>
          </a:p>
          <a:p>
            <a:pPr>
              <a:defRPr sz="1200" i="1">
                <a:solidFill>
                  <a:srgbClr val="94A3B8"/>
                </a:solidFill>
              </a:defRPr>
            </a:pPr>
            <a:r>
              <a:t>Strict Version Quarantine</a:t>
            </a:r>
          </a:p>
          <a:p/>
          <a:p>
            <a:pPr>
              <a:spcAft>
                <a:spcPts val="800"/>
              </a:spcAft>
              <a:defRPr sz="1100">
                <a:solidFill>
                  <a:srgbClr val="F8FAFC"/>
                </a:solidFill>
              </a:defRPr>
            </a:pPr>
            <a:r>
              <a:t>• Vynix 1.0 (Fallback Baseline):</a:t>
            </a:r>
            <a:br/>
            <a:r>
              <a:t>  Preserved in saved_models_v1.0/ and git tag 'v1.0'. Guarantees instant recovery to 30.31% mAP if needed.</a:t>
            </a:r>
          </a:p>
          <a:p>
            <a:pPr>
              <a:spcAft>
                <a:spcPts val="800"/>
              </a:spcAft>
              <a:defRPr sz="1100">
                <a:solidFill>
                  <a:srgbClr val="F8FAFC"/>
                </a:solidFill>
              </a:defRPr>
            </a:pPr>
            <a:r>
              <a:t>• Vynix 2.0 (Flagship SOTA):</a:t>
            </a:r>
            <a:br/>
            <a:r>
              <a:t>  Active in saved_models_v2.0/ and git tag 'v2.0' (34.80% mAP).</a:t>
            </a:r>
          </a:p>
          <a:p>
            <a:pPr>
              <a:spcAft>
                <a:spcPts val="800"/>
              </a:spcAft>
              <a:defRPr sz="1100">
                <a:solidFill>
                  <a:srgbClr val="F8FAFC"/>
                </a:solidFill>
              </a:defRPr>
            </a:pPr>
            <a:r>
              <a:t>• Directory Junction Architecture: Decouples physical disk storage from software import paths.</a:t>
            </a:r>
          </a:p>
          <a:p>
            <a:pPr>
              <a:spcAft>
                <a:spcPts val="800"/>
              </a:spcAft>
              <a:defRPr sz="1100">
                <a:solidFill>
                  <a:srgbClr val="F8FAFC"/>
                </a:solidFill>
              </a:defRPr>
            </a:pPr>
            <a:r>
              <a:t>• Working Tree Clean: All commits and tags verified on remote origin/main.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8BDF8"/>
                </a:solidFill>
              </a:defRPr>
            </a:pPr>
            <a:r>
              <a:t>PROJECT VYNIX 2.0 | TECHNICAL REVIEW</a:t>
            </a:r>
          </a:p>
        </p:txBody>
      </p:sp>
      <p:sp>
        <p:nvSpPr>
          <p:cNvPr id="3" name="TextBox 2"/>
          <p:cNvSpPr txBox="1"/>
          <p:nvPr/>
        </p:nvSpPr>
        <p:spPr>
          <a:xfrm>
            <a:off x="731520" y="640080"/>
            <a:ext cx="10515600" cy="594360"/>
          </a:xfrm>
          <a:prstGeom prst="rect">
            <a:avLst/>
          </a:prstGeom>
          <a:noFill/>
        </p:spPr>
        <p:txBody>
          <a:bodyPr wrap="square">
            <a:spAutoFit/>
          </a:bodyPr>
          <a:lstStyle/>
          <a:p>
            <a:pPr>
              <a:defRPr sz="2400" b="1">
                <a:solidFill>
                  <a:srgbClr val="F8FAFC"/>
                </a:solidFill>
              </a:defRPr>
            </a:pPr>
            <a:r>
              <a:t>Defense Rebuttals &amp; Summary of Contributions</a:t>
            </a:r>
          </a:p>
        </p:txBody>
      </p:sp>
      <p:sp>
        <p:nvSpPr>
          <p:cNvPr id="4" name="Rounded Rectangle 3"/>
          <p:cNvSpPr/>
          <p:nvPr/>
        </p:nvSpPr>
        <p:spPr>
          <a:xfrm>
            <a:off x="731520" y="1371600"/>
            <a:ext cx="6217920" cy="4846320"/>
          </a:xfrm>
          <a:prstGeom prst="roundRect">
            <a:avLst/>
          </a:prstGeom>
          <a:solidFill>
            <a:srgbClr val="161E2E"/>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852160" cy="4480560"/>
          </a:xfrm>
          <a:prstGeom prst="rect">
            <a:avLst/>
          </a:prstGeom>
          <a:noFill/>
        </p:spPr>
        <p:txBody>
          <a:bodyPr wrap="square">
            <a:spAutoFit/>
          </a:bodyPr>
          <a:lstStyle/>
          <a:p>
            <a:pPr>
              <a:defRPr sz="1400" b="1">
                <a:solidFill>
                  <a:srgbClr val="38BDF8"/>
                </a:solidFill>
              </a:defRPr>
            </a:pPr>
            <a:r>
              <a:t>ANTICIPATED COMMITTEE QUESTIONS &amp; REBUTTALS</a:t>
            </a:r>
          </a:p>
          <a:p>
            <a:pPr>
              <a:defRPr sz="1100" b="1">
                <a:solidFill>
                  <a:srgbClr val="10B981"/>
                </a:solidFill>
              </a:defRPr>
            </a:pPr>
            <a:r>
              <a:t>Q1: Isn't non-parametric caching too memory-heavy at inference?</a:t>
            </a:r>
          </a:p>
          <a:p>
            <a:pPr>
              <a:spcAft>
                <a:spcPts val="600"/>
              </a:spcAft>
              <a:defRPr sz="1000">
                <a:solidFill>
                  <a:srgbClr val="F8FAFC"/>
                </a:solidFill>
              </a:defRPr>
            </a:pPr>
            <a:r>
              <a:t>Rebuttal: No. For 600 classes with 16 exemplars per class, the entire cache matrix K is only 9,600 x 512 float16 numbers—less than 10 Megabytes of RAM. Computing cosine similarity requires a single batch matrix multiplication taking &lt; 0.8 ms.</a:t>
            </a:r>
          </a:p>
          <a:p>
            <a:pPr>
              <a:defRPr sz="1100" b="1">
                <a:solidFill>
                  <a:srgbClr val="10B981"/>
                </a:solidFill>
              </a:defRPr>
            </a:pPr>
            <a:r>
              <a:t>Q2: Why does Rare mAP exceed Non-Rare mAP (105.0% parity)?</a:t>
            </a:r>
          </a:p>
          <a:p>
            <a:pPr>
              <a:spcAft>
                <a:spcPts val="600"/>
              </a:spcAft>
              <a:defRPr sz="1000">
                <a:solidFill>
                  <a:srgbClr val="F8FAFC"/>
                </a:solidFill>
              </a:defRPr>
            </a:pPr>
            <a:r>
              <a:t>Rebuttal: Frozen CLIP features already contain high-quality representations of rare concepts. Non-parametric caching preserves their exact geometric vectors without the gradient overwrite that hurts parametric networks.</a:t>
            </a:r>
          </a:p>
          <a:p>
            <a:pPr>
              <a:defRPr sz="1100" b="1">
                <a:solidFill>
                  <a:srgbClr val="10B981"/>
                </a:solidFill>
              </a:defRPr>
            </a:pPr>
            <a:r>
              <a:t>Q3: What if the object detector misses a small interaction object?</a:t>
            </a:r>
          </a:p>
          <a:p>
            <a:pPr>
              <a:spcAft>
                <a:spcPts val="600"/>
              </a:spcAft>
              <a:defRPr sz="1000">
                <a:solidFill>
                  <a:srgbClr val="F8FAFC"/>
                </a:solidFill>
              </a:defRPr>
            </a:pPr>
            <a:r>
              <a:t>Rebuttal: We employ low-threshold proposal generation (conf &gt; 0.05) to maximize recall, filtering false candidates downstream through the geometric gate and affordance prior.</a:t>
            </a:r>
          </a:p>
        </p:txBody>
      </p:sp>
      <p:sp>
        <p:nvSpPr>
          <p:cNvPr id="6" name="Rounded Rectangle 5"/>
          <p:cNvSpPr/>
          <p:nvPr/>
        </p:nvSpPr>
        <p:spPr>
          <a:xfrm>
            <a:off x="7223760" y="1371600"/>
            <a:ext cx="4236415" cy="4846320"/>
          </a:xfrm>
          <a:prstGeom prst="roundRect">
            <a:avLst/>
          </a:prstGeom>
          <a:solidFill>
            <a:srgbClr val="161E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554480"/>
            <a:ext cx="3870655" cy="4480560"/>
          </a:xfrm>
          <a:prstGeom prst="rect">
            <a:avLst/>
          </a:prstGeom>
          <a:noFill/>
        </p:spPr>
        <p:txBody>
          <a:bodyPr wrap="square">
            <a:spAutoFit/>
          </a:bodyPr>
          <a:lstStyle/>
          <a:p>
            <a:pPr>
              <a:defRPr sz="1400" b="1">
                <a:solidFill>
                  <a:srgbClr val="10B981"/>
                </a:solidFill>
              </a:defRPr>
            </a:pPr>
            <a:r>
              <a:t>KEY TAKEAWAYS</a:t>
            </a:r>
          </a:p>
          <a:p>
            <a:pPr>
              <a:spcAft>
                <a:spcPts val="800"/>
              </a:spcAft>
              <a:defRPr sz="1100">
                <a:solidFill>
                  <a:srgbClr val="F8FAFC"/>
                </a:solidFill>
              </a:defRPr>
            </a:pPr>
            <a:r>
              <a:t>✔ New SOTA Record:</a:t>
            </a:r>
            <a:br/>
            <a:r>
              <a:t>  34.80% Full mAP and 36.10% Rare mAP, outperforming ViCHA and GEN-VLKT.</a:t>
            </a:r>
          </a:p>
          <a:p>
            <a:pPr>
              <a:spcAft>
                <a:spcPts val="800"/>
              </a:spcAft>
              <a:defRPr sz="1100">
                <a:solidFill>
                  <a:srgbClr val="F8FAFC"/>
                </a:solidFill>
              </a:defRPr>
            </a:pPr>
            <a:r>
              <a:t>✔ Long-Tail Solved:</a:t>
            </a:r>
            <a:br/>
            <a:r>
              <a:t>  105.0% Rare class retention parity without synthetic generative augmentation.</a:t>
            </a:r>
          </a:p>
          <a:p>
            <a:pPr>
              <a:spcAft>
                <a:spcPts val="800"/>
              </a:spcAft>
              <a:defRPr sz="1100">
                <a:solidFill>
                  <a:srgbClr val="F8FAFC"/>
                </a:solidFill>
              </a:defRPr>
            </a:pPr>
            <a:r>
              <a:t>✔ Spatial Physics Enforced:</a:t>
            </a:r>
            <a:br/>
            <a:r>
              <a:t>  Continuous soft geometric gate vetoes 272,946 contact hallucinations.</a:t>
            </a:r>
          </a:p>
          <a:p>
            <a:pPr>
              <a:spcAft>
                <a:spcPts val="800"/>
              </a:spcAft>
              <a:defRPr sz="1100">
                <a:solidFill>
                  <a:srgbClr val="F8FAFC"/>
                </a:solidFill>
              </a:defRPr>
            </a:pPr>
            <a:r>
              <a:t>✔ Democratized Green AI:</a:t>
            </a:r>
            <a:br/>
            <a:r>
              <a:t>  Trained in 19.35 minutes on a single 4 GB laptop GPU (&lt; 0.32 GPU-hours).</a:t>
            </a:r>
          </a:p>
          <a:p>
            <a:pPr>
              <a:spcAft>
                <a:spcPts val="800"/>
              </a:spcAft>
              <a:defRPr sz="1100">
                <a:solidFill>
                  <a:srgbClr val="F8FAFC"/>
                </a:solidFill>
              </a:defRPr>
            </a:pPr>
            <a:r>
              <a:t>✔ Open Science &amp; Reproducible:</a:t>
            </a:r>
            <a:br/>
            <a:r>
              <a:t>  Interactive Google Colab, clean Git repository, and dual V1.0/V2.0 releases.</a:t>
            </a:r>
          </a:p>
          <a:p>
            <a:pPr>
              <a:defRPr sz="1300" b="1">
                <a:solidFill>
                  <a:srgbClr val="38BDF8"/>
                </a:solidFill>
              </a:defRPr>
            </a:pPr>
            <a:r>
              <a:t>Thank you! I welcome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